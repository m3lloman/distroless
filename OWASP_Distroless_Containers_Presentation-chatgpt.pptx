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2" r:id="rId3"/>
    <p:sldId id="259" r:id="rId4"/>
    <p:sldId id="293" r:id="rId5"/>
    <p:sldId id="257" r:id="rId6"/>
    <p:sldId id="260" r:id="rId7"/>
    <p:sldId id="261" r:id="rId8"/>
    <p:sldId id="263" r:id="rId9"/>
    <p:sldId id="267" r:id="rId10"/>
    <p:sldId id="269" r:id="rId11"/>
    <p:sldId id="270" r:id="rId12"/>
    <p:sldId id="268" r:id="rId13"/>
    <p:sldId id="273" r:id="rId14"/>
    <p:sldId id="274" r:id="rId15"/>
    <p:sldId id="275" r:id="rId16"/>
    <p:sldId id="265" r:id="rId17"/>
    <p:sldId id="276" r:id="rId18"/>
    <p:sldId id="277" r:id="rId19"/>
    <p:sldId id="279" r:id="rId20"/>
    <p:sldId id="280" r:id="rId21"/>
    <p:sldId id="294" r:id="rId22"/>
    <p:sldId id="281" r:id="rId23"/>
    <p:sldId id="295" r:id="rId24"/>
    <p:sldId id="296" r:id="rId25"/>
    <p:sldId id="297" r:id="rId26"/>
    <p:sldId id="283" r:id="rId27"/>
    <p:sldId id="285" r:id="rId28"/>
    <p:sldId id="286" r:id="rId29"/>
    <p:sldId id="287" r:id="rId30"/>
    <p:sldId id="288" r:id="rId31"/>
    <p:sldId id="289" r:id="rId32"/>
    <p:sldId id="290" r:id="rId33"/>
    <p:sldId id="291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47"/>
    <p:restoredTop sz="94682"/>
  </p:normalViewPr>
  <p:slideViewPr>
    <p:cSldViewPr snapToGrid="0" snapToObjects="1">
      <p:cViewPr varScale="1">
        <p:scale>
          <a:sx n="152" d="100"/>
          <a:sy n="152" d="100"/>
        </p:scale>
        <p:origin x="36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625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Keep pacing fast.</a:t>
            </a:r>
          </a:p>
          <a:p>
            <a:r>
              <a:t>- Avoid over-explaining container basics.</a:t>
            </a:r>
          </a:p>
          <a:p>
            <a:r>
              <a:t>- Emphasize operational tradeoffs and security outcomes.</a:t>
            </a:r>
          </a:p>
          <a:p>
            <a:r>
              <a:t>- Refer audience to GitHub repository for full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96983-60C2-BA3E-86C0-01E66456C50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267700" y="6672580"/>
            <a:ext cx="83343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Distroless Containers: Less OS, Less Risk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OWASP Tampa Chapter</a:t>
            </a:r>
          </a:p>
          <a:p>
            <a:r>
              <a:t>Practical container hardening with distroless, Wolfi, and Chainguard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Mello Bkirouac</a:t>
            </a:r>
          </a:p>
          <a:p>
            <a:pPr lvl="1"/>
            <a:r>
              <a:rPr b="0"/>
              <a:t>Information Security Architect at Cisco</a:t>
            </a:r>
          </a:p>
          <a:p>
            <a:pPr lvl="1"/>
            <a:r>
              <a:rPr b="0"/>
              <a:t>35 years in security architecture</a:t>
            </a:r>
          </a:p>
          <a:p>
            <a:pPr lvl="1"/>
            <a:r>
              <a:rPr b="0"/>
              <a:t>OWASP Tampa member</a:t>
            </a:r>
          </a:p>
          <a:p>
            <a:pPr lvl="1"/>
            <a:r>
              <a:rPr b="0"/>
              <a:t>Biker, Floridian, container security nerd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325369"/>
            <a:ext cx="3276451" cy="1956841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/>
              <a:t>What Attackers Want Inside Containers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2586994"/>
            <a:ext cx="2606040" cy="18288"/>
          </a:xfrm>
          <a:custGeom>
            <a:avLst/>
            <a:gdLst>
              <a:gd name="csX0" fmla="*/ 0 w 2606040"/>
              <a:gd name="csY0" fmla="*/ 0 h 18288"/>
              <a:gd name="csX1" fmla="*/ 625450 w 2606040"/>
              <a:gd name="csY1" fmla="*/ 0 h 18288"/>
              <a:gd name="csX2" fmla="*/ 1224839 w 2606040"/>
              <a:gd name="csY2" fmla="*/ 0 h 18288"/>
              <a:gd name="csX3" fmla="*/ 1824228 w 2606040"/>
              <a:gd name="csY3" fmla="*/ 0 h 18288"/>
              <a:gd name="csX4" fmla="*/ 2606040 w 2606040"/>
              <a:gd name="csY4" fmla="*/ 0 h 18288"/>
              <a:gd name="csX5" fmla="*/ 2606040 w 2606040"/>
              <a:gd name="csY5" fmla="*/ 18288 h 18288"/>
              <a:gd name="csX6" fmla="*/ 1902409 w 2606040"/>
              <a:gd name="csY6" fmla="*/ 18288 h 18288"/>
              <a:gd name="csX7" fmla="*/ 1276960 w 2606040"/>
              <a:gd name="csY7" fmla="*/ 18288 h 18288"/>
              <a:gd name="csX8" fmla="*/ 677570 w 2606040"/>
              <a:gd name="csY8" fmla="*/ 18288 h 18288"/>
              <a:gd name="csX9" fmla="*/ 0 w 2606040"/>
              <a:gd name="csY9" fmla="*/ 18288 h 18288"/>
              <a:gd name="csX10" fmla="*/ 0 w 260604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606040" h="18288" fill="none" extrusionOk="0">
                <a:moveTo>
                  <a:pt x="0" y="0"/>
                </a:moveTo>
                <a:cubicBezTo>
                  <a:pt x="266776" y="-600"/>
                  <a:pt x="322756" y="3201"/>
                  <a:pt x="625450" y="0"/>
                </a:cubicBezTo>
                <a:cubicBezTo>
                  <a:pt x="928144" y="-3201"/>
                  <a:pt x="968141" y="9269"/>
                  <a:pt x="1224839" y="0"/>
                </a:cubicBezTo>
                <a:cubicBezTo>
                  <a:pt x="1481537" y="-9269"/>
                  <a:pt x="1569059" y="21947"/>
                  <a:pt x="1824228" y="0"/>
                </a:cubicBezTo>
                <a:cubicBezTo>
                  <a:pt x="2079397" y="-21947"/>
                  <a:pt x="2326053" y="-10194"/>
                  <a:pt x="2606040" y="0"/>
                </a:cubicBezTo>
                <a:cubicBezTo>
                  <a:pt x="2605462" y="4771"/>
                  <a:pt x="2606793" y="12323"/>
                  <a:pt x="2606040" y="18288"/>
                </a:cubicBezTo>
                <a:cubicBezTo>
                  <a:pt x="2256758" y="31410"/>
                  <a:pt x="2173673" y="-12878"/>
                  <a:pt x="1902409" y="18288"/>
                </a:cubicBezTo>
                <a:cubicBezTo>
                  <a:pt x="1631145" y="49454"/>
                  <a:pt x="1461378" y="5466"/>
                  <a:pt x="1276960" y="18288"/>
                </a:cubicBezTo>
                <a:cubicBezTo>
                  <a:pt x="1092542" y="31110"/>
                  <a:pt x="890442" y="13213"/>
                  <a:pt x="677570" y="18288"/>
                </a:cubicBezTo>
                <a:cubicBezTo>
                  <a:pt x="464698" y="23364"/>
                  <a:pt x="187648" y="35837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606040" h="18288" stroke="0" extrusionOk="0">
                <a:moveTo>
                  <a:pt x="0" y="0"/>
                </a:moveTo>
                <a:cubicBezTo>
                  <a:pt x="197231" y="3803"/>
                  <a:pt x="358914" y="-9291"/>
                  <a:pt x="599389" y="0"/>
                </a:cubicBezTo>
                <a:cubicBezTo>
                  <a:pt x="839864" y="9291"/>
                  <a:pt x="979371" y="8509"/>
                  <a:pt x="1303020" y="0"/>
                </a:cubicBezTo>
                <a:cubicBezTo>
                  <a:pt x="1626669" y="-8509"/>
                  <a:pt x="1726300" y="7440"/>
                  <a:pt x="1876349" y="0"/>
                </a:cubicBezTo>
                <a:cubicBezTo>
                  <a:pt x="2026398" y="-7440"/>
                  <a:pt x="2430712" y="17957"/>
                  <a:pt x="2606040" y="0"/>
                </a:cubicBezTo>
                <a:cubicBezTo>
                  <a:pt x="2605426" y="8857"/>
                  <a:pt x="2606544" y="13619"/>
                  <a:pt x="2606040" y="18288"/>
                </a:cubicBezTo>
                <a:cubicBezTo>
                  <a:pt x="2393024" y="2241"/>
                  <a:pt x="2191161" y="39259"/>
                  <a:pt x="1980590" y="18288"/>
                </a:cubicBezTo>
                <a:cubicBezTo>
                  <a:pt x="1770019" y="-2683"/>
                  <a:pt x="1476440" y="36114"/>
                  <a:pt x="1276960" y="18288"/>
                </a:cubicBezTo>
                <a:cubicBezTo>
                  <a:pt x="1077480" y="463"/>
                  <a:pt x="880988" y="42125"/>
                  <a:pt x="651510" y="18288"/>
                </a:cubicBezTo>
                <a:cubicBezTo>
                  <a:pt x="422032" y="-5549"/>
                  <a:pt x="130744" y="-1947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" y="2872899"/>
            <a:ext cx="3182691" cy="3320668"/>
          </a:xfrm>
        </p:spPr>
        <p:txBody>
          <a:bodyPr>
            <a:normAutofit/>
          </a:bodyPr>
          <a:lstStyle/>
          <a:p>
            <a:r>
              <a:rPr lang="en-US" sz="1900"/>
              <a:t>/bin/sh or bash</a:t>
            </a:r>
          </a:p>
          <a:p>
            <a:r>
              <a:rPr lang="en-US" sz="1900"/>
              <a:t>curl/wget</a:t>
            </a:r>
          </a:p>
          <a:p>
            <a:r>
              <a:rPr lang="en-US" sz="1900"/>
              <a:t>Package managers</a:t>
            </a:r>
          </a:p>
          <a:p>
            <a:r>
              <a:rPr lang="en-US" sz="1900"/>
              <a:t>Interpreters and debugging utilities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F8F6FC-D237-4828-1CA6-8329B68A1E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687" r="14086"/>
          <a:stretch>
            <a:fillRect/>
          </a:stretch>
        </p:blipFill>
        <p:spPr>
          <a:xfrm>
            <a:off x="3983776" y="10"/>
            <a:ext cx="5159081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Demo: Command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/>
              <a:t>01-demo-debian  (debian:12, shell present)</a:t>
            </a:r>
          </a:p>
          <a:p>
            <a:r>
              <a:rPr lang="en-US" b="1"/>
              <a:t>Build and run:</a:t>
            </a:r>
          </a:p>
          <a:p>
            <a:pPr lvl="1"/>
            <a:r>
              <a:rPr lang="en-US" b="0"/>
              <a:t>docker build -f Dockerfile -t 01-demo-debian ..</a:t>
            </a:r>
          </a:p>
          <a:p>
            <a:pPr lvl="1"/>
            <a:r>
              <a:rPr lang="en-US" b="0"/>
              <a:t>docker run -d --name 01-demo-debian -p 5001:5000 01-demo-debian</a:t>
            </a:r>
          </a:p>
          <a:p>
            <a:r>
              <a:rPr lang="en-US" b="1"/>
              <a:t>Normal request:</a:t>
            </a:r>
          </a:p>
          <a:p>
            <a:pPr lvl="1"/>
            <a:r>
              <a:rPr lang="en-US" b="0"/>
              <a:t>curl "http://localhost:5001/ping?host=8.8.8.8"</a:t>
            </a:r>
          </a:p>
          <a:p>
            <a:pPr lvl="1"/>
            <a:r>
              <a:rPr lang="en-US" b="0"/>
              <a:t>{ "returncode": 0, "stdout": "... 2 packets transmitted ..." }</a:t>
            </a:r>
          </a:p>
          <a:p>
            <a:r>
              <a:rPr lang="en-US" b="1"/>
              <a:t>Exploit:</a:t>
            </a:r>
          </a:p>
          <a:p>
            <a:pPr lvl="1"/>
            <a:r>
              <a:rPr lang="en-US" b="0"/>
              <a:t>curl "http://localhost:5001/ping?host=8.8.8.8%3B+id"</a:t>
            </a:r>
          </a:p>
          <a:p>
            <a:pPr lvl="1"/>
            <a:r>
              <a:rPr lang="en-US" b="0"/>
              <a:t>{ "stdout": "PING 8.8.8.8 ...\nuid=10001(appuser) gid=10001(appuser)" }</a:t>
            </a:r>
          </a:p>
          <a:p>
            <a:r>
              <a:rPr lang="en-US" b="1"/>
              <a:t>Shell access:</a:t>
            </a:r>
          </a:p>
          <a:p>
            <a:pPr lvl="1"/>
            <a:r>
              <a:rPr lang="en-US" b="0"/>
              <a:t>docker exec -it 01-demo-debian /bin/bash</a:t>
            </a:r>
            <a:endParaRPr lang="en-US" b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Why Are We Shipping Entire Operating Systems?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Modern containers often include shells, package managers, editors, and debugging tools.</a:t>
            </a:r>
          </a:p>
          <a:p>
            <a:r>
              <a:rPr dirty="0"/>
              <a:t>Many workloads only need an application binary and runtime.</a:t>
            </a:r>
          </a:p>
          <a:p>
            <a:r>
              <a:rPr dirty="0"/>
              <a:t>More software means more attack surface and more CVEs.</a:t>
            </a:r>
          </a:p>
          <a:p>
            <a:endParaRPr dirty="0"/>
          </a:p>
          <a:p>
            <a:r>
              <a:rPr b="1" dirty="0"/>
              <a:t>The consequences</a:t>
            </a:r>
          </a:p>
          <a:p>
            <a:pPr lvl="1"/>
            <a:r>
              <a:rPr dirty="0"/>
              <a:t>Extra packages increase operational exposure.</a:t>
            </a:r>
          </a:p>
          <a:p>
            <a:pPr lvl="1"/>
            <a:r>
              <a:rPr dirty="0"/>
              <a:t>Attackers benefit from built-in tooling.</a:t>
            </a:r>
          </a:p>
          <a:p>
            <a:pPr lvl="1"/>
            <a:r>
              <a:rPr dirty="0"/>
              <a:t>Vulnerability scanners produce more noise with larger images.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Traditional Base Image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Ubuntu/Debian</a:t>
            </a:r>
            <a:r>
              <a:rPr lang="en-US" dirty="0"/>
              <a:t>/UBI</a:t>
            </a:r>
            <a:r>
              <a:rPr dirty="0"/>
              <a:t>: large, convenient, broad attack surface</a:t>
            </a:r>
          </a:p>
          <a:p>
            <a:r>
              <a:rPr lang="en-US" dirty="0"/>
              <a:t>Debian-slim/</a:t>
            </a:r>
            <a:r>
              <a:rPr dirty="0"/>
              <a:t>UBI</a:t>
            </a:r>
            <a:r>
              <a:rPr lang="en-US" dirty="0"/>
              <a:t>-</a:t>
            </a:r>
            <a:r>
              <a:rPr dirty="0"/>
              <a:t>Minimal: smaller but still includes tooling</a:t>
            </a:r>
          </a:p>
          <a:p>
            <a:r>
              <a:rPr dirty="0"/>
              <a:t>Alpine: lightweight but still a full distro</a:t>
            </a:r>
          </a:p>
          <a:p>
            <a:r>
              <a:rPr dirty="0" err="1"/>
              <a:t>Distroless</a:t>
            </a:r>
            <a:r>
              <a:rPr dirty="0"/>
              <a:t>: runtime-focused</a:t>
            </a:r>
          </a:p>
          <a:p>
            <a:r>
              <a:rPr dirty="0"/>
              <a:t>Scratch: nearly empty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Enumerating Packages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8090FF4-FF42-15A9-B620-097D80B71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394" y="1193424"/>
            <a:ext cx="8166683" cy="1246284"/>
          </a:xfrm>
        </p:spPr>
        <p:txBody>
          <a:bodyPr>
            <a:normAutofit fontScale="55000" lnSpcReduction="20000"/>
          </a:bodyPr>
          <a:lstStyle/>
          <a:p>
            <a:endParaRPr dirty="0"/>
          </a:p>
          <a:p>
            <a:r>
              <a:rPr lang="en-US" dirty="0"/>
              <a:t>Standard images contain tooling unrelated to runtime execution.</a:t>
            </a:r>
          </a:p>
          <a:p>
            <a:r>
              <a:rPr lang="en-US" dirty="0"/>
              <a:t>Even minimal images still contain tooling unrelated to runtime execution.</a:t>
            </a:r>
          </a:p>
          <a:p>
            <a:r>
              <a:rPr lang="en-US" dirty="0"/>
              <a:t>Operational convenience often increases exposure.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6217" y="2439707"/>
            <a:ext cx="41651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222222"/>
                </a:solidFill>
              </a:rPr>
              <a:t>docker run --rm 01-demo-debian </a:t>
            </a:r>
            <a:r>
              <a:rPr sz="1400" b="1" dirty="0" err="1">
                <a:solidFill>
                  <a:srgbClr val="222222"/>
                </a:solidFill>
              </a:rPr>
              <a:t>dpkg</a:t>
            </a:r>
            <a:r>
              <a:rPr sz="1400" b="1" dirty="0">
                <a:solidFill>
                  <a:srgbClr val="222222"/>
                </a:solidFill>
              </a:rPr>
              <a:t> -l | </a:t>
            </a:r>
            <a:r>
              <a:rPr sz="1400" b="1" dirty="0" err="1">
                <a:solidFill>
                  <a:srgbClr val="222222"/>
                </a:solidFill>
              </a:rPr>
              <a:t>wc</a:t>
            </a:r>
            <a:r>
              <a:rPr sz="1400" b="1" dirty="0">
                <a:solidFill>
                  <a:srgbClr val="222222"/>
                </a:solidFill>
              </a:rPr>
              <a:t> -l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284516"/>
              </p:ext>
            </p:extLst>
          </p:nvPr>
        </p:nvGraphicFramePr>
        <p:xfrm>
          <a:off x="457200" y="2952606"/>
          <a:ext cx="5684532" cy="3060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2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Demo Image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dpkg</a:t>
                      </a:r>
                      <a:r>
                        <a:rPr dirty="0"/>
                        <a:t> -l / </a:t>
                      </a:r>
                      <a:r>
                        <a:rPr dirty="0" err="1"/>
                        <a:t>apk</a:t>
                      </a:r>
                      <a:r>
                        <a:rPr dirty="0"/>
                        <a:t> list / rpm -</a:t>
                      </a:r>
                      <a:r>
                        <a:rPr dirty="0" err="1"/>
                        <a:t>qa</a:t>
                      </a:r>
                      <a:r>
                        <a:rPr dirty="0"/>
                        <a:t> | </a:t>
                      </a:r>
                      <a:r>
                        <a:rPr dirty="0" err="1"/>
                        <a:t>wc</a:t>
                      </a:r>
                      <a:r>
                        <a:rPr dirty="0"/>
                        <a:t> -l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Full Images</a:t>
                      </a:r>
                    </a:p>
                  </a:txBody>
                  <a:tcPr>
                    <a:solidFill>
                      <a:srgbClr val="1B6C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endParaRPr/>
                    </a:p>
                  </a:txBody>
                  <a:tcPr>
                    <a:solidFill>
                      <a:srgbClr val="1B6C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01-demo-debian     (debian:12)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02-demo-alpine     (alpine:3.20)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03-demo-ubi        (ubi9/ubi:latest)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190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Minimal Images</a:t>
                      </a:r>
                    </a:p>
                  </a:txBody>
                  <a:tcPr>
                    <a:solidFill>
                      <a:srgbClr val="1B6C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endParaRPr/>
                    </a:p>
                  </a:txBody>
                  <a:tcPr>
                    <a:solidFill>
                      <a:srgbClr val="1B6C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04-demo-debian-slim  (debian:12-slim) — slim strips docs/locales, same package count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05-demo-ubi-minimal  (ubi9/ubi-minimal:latest)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rPr dirty="0"/>
                        <a:t>119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2C0AF8F-BC8E-09C9-0BBA-3605842DFB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707" y="2224748"/>
            <a:ext cx="2327363" cy="29711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Why Existing Linux Distributions Struggle in Containers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47875" y="1899846"/>
            <a:ext cx="5238925" cy="3835866"/>
          </a:xfrm>
        </p:spPr>
        <p:txBody>
          <a:bodyPr>
            <a:normAutofit lnSpcReduction="10000"/>
          </a:bodyPr>
          <a:lstStyle/>
          <a:p>
            <a:r>
              <a:rPr dirty="0"/>
              <a:t>Traditional Linux distros were designed for servers and VMs.</a:t>
            </a:r>
          </a:p>
          <a:p>
            <a:r>
              <a:rPr dirty="0"/>
              <a:t>Containers are immutable and single-purpose.</a:t>
            </a:r>
          </a:p>
          <a:p>
            <a:r>
              <a:rPr dirty="0"/>
              <a:t>Package managers and shells are often unnecessary at runtime.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D49DA6-E878-5446-BDEA-42E41A32D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00200"/>
            <a:ext cx="3075460" cy="46234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Distroless Containers Explained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8C3641-BFD2-38BD-8BA2-015C18A9D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562" y="3201794"/>
            <a:ext cx="4839535" cy="315328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4357" y="1417638"/>
            <a:ext cx="7422444" cy="2374901"/>
          </a:xfrm>
        </p:spPr>
        <p:txBody>
          <a:bodyPr/>
          <a:lstStyle/>
          <a:p>
            <a:r>
              <a:rPr dirty="0"/>
              <a:t>Runtime-only philosophy</a:t>
            </a:r>
          </a:p>
          <a:p>
            <a:r>
              <a:rPr dirty="0"/>
              <a:t>No shell</a:t>
            </a:r>
          </a:p>
          <a:p>
            <a:r>
              <a:rPr dirty="0"/>
              <a:t>No package manager</a:t>
            </a:r>
          </a:p>
          <a:p>
            <a:r>
              <a:rPr dirty="0"/>
              <a:t>Reduce attacker convenience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Scratch Images and Static Binaries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Extremely small attack surface.</a:t>
            </a:r>
          </a:p>
          <a:p>
            <a:r>
              <a:rPr lang="en-US" dirty="0"/>
              <a:t>“</a:t>
            </a:r>
            <a:r>
              <a:rPr dirty="0"/>
              <a:t>FROM scratch</a:t>
            </a:r>
            <a:r>
              <a:rPr lang="en-US" dirty="0"/>
              <a:t>"</a:t>
            </a:r>
            <a:r>
              <a:rPr dirty="0"/>
              <a:t> creates nearly empty images.</a:t>
            </a:r>
            <a:endParaRPr lang="en-US" dirty="0"/>
          </a:p>
          <a:p>
            <a:r>
              <a:rPr lang="en-US" dirty="0"/>
              <a:t>Need create /</a:t>
            </a:r>
            <a:r>
              <a:rPr lang="en-US" dirty="0" err="1"/>
              <a:t>etc</a:t>
            </a:r>
            <a:r>
              <a:rPr lang="en-US" dirty="0"/>
              <a:t>/passwd and then copy over for user mapping</a:t>
            </a:r>
            <a:endParaRPr dirty="0"/>
          </a:p>
          <a:p>
            <a:r>
              <a:rPr dirty="0"/>
              <a:t>Static binaries are </a:t>
            </a:r>
            <a:r>
              <a:rPr lang="en-US" dirty="0"/>
              <a:t>easy.  </a:t>
            </a:r>
          </a:p>
          <a:p>
            <a:r>
              <a:rPr lang="en-US" dirty="0"/>
              <a:t>Dynamic binaries</a:t>
            </a:r>
            <a:r>
              <a:rPr dirty="0"/>
              <a:t> requir</a:t>
            </a:r>
            <a:r>
              <a:rPr lang="en-US" dirty="0"/>
              <a:t>e a lot more work.</a:t>
            </a:r>
          </a:p>
          <a:p>
            <a:pPr lvl="1"/>
            <a:r>
              <a:rPr lang="en-US" dirty="0"/>
              <a:t>Missing </a:t>
            </a:r>
            <a:r>
              <a:rPr lang="en-US" dirty="0" err="1"/>
              <a:t>libc</a:t>
            </a:r>
            <a:r>
              <a:rPr lang="en-US" dirty="0"/>
              <a:t>/</a:t>
            </a:r>
            <a:r>
              <a:rPr lang="en-US" dirty="0" err="1"/>
              <a:t>glibc</a:t>
            </a:r>
            <a:endParaRPr lang="en-US" dirty="0"/>
          </a:p>
          <a:p>
            <a:pPr lvl="1"/>
            <a:r>
              <a:rPr lang="en-US" dirty="0"/>
              <a:t>Missing runtime loaders</a:t>
            </a:r>
          </a:p>
          <a:p>
            <a:pPr lvl="1"/>
            <a:r>
              <a:rPr lang="en-US" dirty="0"/>
              <a:t>Shared library dependencies are absent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Demo: Static </a:t>
            </a:r>
            <a:r>
              <a:rPr lang="en-US" dirty="0"/>
              <a:t>with </a:t>
            </a:r>
            <a:r>
              <a:rPr dirty="0"/>
              <a:t>Go </a:t>
            </a:r>
            <a:r>
              <a:rPr lang="en-US" dirty="0"/>
              <a:t>App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06-demo-scratch-go  --  CGO_ENABLED=0, single static binary, FROM scratch</a:t>
            </a:r>
          </a:p>
          <a:p>
            <a:r>
              <a:rPr lang="en-US" b="1" dirty="0"/>
              <a:t>Build and run:</a:t>
            </a:r>
          </a:p>
          <a:p>
            <a:pPr lvl="1"/>
            <a:r>
              <a:rPr lang="en-US" dirty="0"/>
              <a:t>docker build -f Dockerfile -t 06-demo-scratch-go .</a:t>
            </a:r>
          </a:p>
          <a:p>
            <a:pPr lvl="1"/>
            <a:r>
              <a:rPr lang="en-US" dirty="0"/>
              <a:t>docker run -d --name 06-demo-scratch-go -p 5006:5000 06-demo-scratch-go</a:t>
            </a:r>
          </a:p>
          <a:p>
            <a:r>
              <a:rPr lang="en-US" b="1" dirty="0"/>
              <a:t>Normal request:</a:t>
            </a:r>
          </a:p>
          <a:p>
            <a:pPr lvl="1"/>
            <a:r>
              <a:rPr lang="en-US" dirty="0"/>
              <a:t>curl "http://localhost:5006/ping?host=8.8.8.8"</a:t>
            </a:r>
          </a:p>
          <a:p>
            <a:pPr lvl="1"/>
            <a:r>
              <a:rPr lang="en-US" dirty="0"/>
              <a:t>{ "error": "fork/exec /bin/sh: no such file or directory" }</a:t>
            </a:r>
          </a:p>
          <a:p>
            <a:r>
              <a:rPr lang="en-US" b="1" dirty="0"/>
              <a:t>Exploit attempt:</a:t>
            </a:r>
          </a:p>
          <a:p>
            <a:pPr lvl="1"/>
            <a:r>
              <a:rPr lang="en-US" dirty="0"/>
              <a:t>curl "http://localhost:5006/ping?host=8.8.8.8%3B+id"</a:t>
            </a:r>
          </a:p>
          <a:p>
            <a:pPr lvl="1"/>
            <a:r>
              <a:rPr lang="en-US" dirty="0"/>
              <a:t>{ "error": "fork/exec /bin/sh: no such file or directory" }</a:t>
            </a:r>
          </a:p>
          <a:p>
            <a:r>
              <a:rPr lang="en-US" b="1" dirty="0"/>
              <a:t>Shell exec:</a:t>
            </a:r>
          </a:p>
          <a:p>
            <a:pPr lvl="1"/>
            <a:r>
              <a:rPr lang="en-US" dirty="0"/>
              <a:t>docker exec 06-demo-scratch-go /bin/sh</a:t>
            </a:r>
          </a:p>
          <a:p>
            <a:pPr lvl="1"/>
            <a:r>
              <a:rPr lang="en-US" dirty="0"/>
              <a:t>OCI error: /bin/sh: no such file or directory</a:t>
            </a:r>
          </a:p>
          <a:p>
            <a:r>
              <a:rPr lang="en-US" b="1" dirty="0"/>
              <a:t>Image size:</a:t>
            </a:r>
            <a:r>
              <a:rPr lang="en-US" dirty="0"/>
              <a:t> 6.88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Demo: Scratch with Python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07-demo-scratch-python  --  Python Flask app, Alpine builder, FROM scratch</a:t>
            </a:r>
          </a:p>
          <a:p>
            <a:r>
              <a:rPr lang="en-US" b="1" dirty="0"/>
              <a:t>Build and run:</a:t>
            </a:r>
          </a:p>
          <a:p>
            <a:pPr lvl="1"/>
            <a:r>
              <a:rPr lang="en-US" dirty="0"/>
              <a:t>docker build -f Dockerfile -t 07-demo-scratch-python ..</a:t>
            </a:r>
          </a:p>
          <a:p>
            <a:pPr lvl="1"/>
            <a:r>
              <a:rPr lang="en-US" dirty="0"/>
              <a:t>docker run -d --name 07-demo-scratch-python -p 5007:5000 07-demo-scratch-python</a:t>
            </a:r>
          </a:p>
          <a:p>
            <a:r>
              <a:rPr lang="en-US" b="1" dirty="0"/>
              <a:t>Normal request:</a:t>
            </a:r>
          </a:p>
          <a:p>
            <a:pPr lvl="1"/>
            <a:r>
              <a:rPr lang="en-US" dirty="0"/>
              <a:t>curl "http://localhost:5007/ping?host=8.8.8.8"</a:t>
            </a:r>
          </a:p>
          <a:p>
            <a:pPr lvl="1"/>
            <a:r>
              <a:rPr lang="en-US" dirty="0"/>
              <a:t>HTTP 500 -- subprocess(shell=True) needs /bin/sh, which does not exist</a:t>
            </a:r>
          </a:p>
          <a:p>
            <a:r>
              <a:rPr lang="en-US" b="1" dirty="0"/>
              <a:t>Exploit attempt:</a:t>
            </a:r>
          </a:p>
          <a:p>
            <a:pPr lvl="1"/>
            <a:r>
              <a:rPr lang="en-US" dirty="0"/>
              <a:t>curl "http://localhost:5007/ping?host=8.8.8.8%3B+id"</a:t>
            </a:r>
          </a:p>
          <a:p>
            <a:pPr lvl="1"/>
            <a:r>
              <a:rPr lang="en-US" dirty="0"/>
              <a:t>HTTP 500 -- /bin/sh missing, exploit never executes</a:t>
            </a:r>
          </a:p>
          <a:p>
            <a:r>
              <a:rPr lang="en-US" b="1" dirty="0"/>
              <a:t>Shell exec:</a:t>
            </a:r>
          </a:p>
          <a:p>
            <a:pPr lvl="1"/>
            <a:r>
              <a:rPr lang="en-US" dirty="0"/>
              <a:t>docker exec 07-demo-scratch-python /bin/sh</a:t>
            </a:r>
          </a:p>
          <a:p>
            <a:pPr lvl="1"/>
            <a:r>
              <a:rPr lang="en-US" dirty="0"/>
              <a:t>OCI error: /bin/sh: no such file or directory</a:t>
            </a:r>
          </a:p>
          <a:p>
            <a:r>
              <a:rPr lang="en-US" b="1" dirty="0"/>
              <a:t>Image size:</a:t>
            </a:r>
            <a:r>
              <a:rPr lang="en-US" dirty="0"/>
              <a:t> 112 MB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Distroless as the Practical Middle 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Scratch is secure but operationally painful.</a:t>
            </a:r>
          </a:p>
          <a:p>
            <a:r>
              <a:t>Traditional distros are convenient but bloated.</a:t>
            </a:r>
          </a:p>
          <a:p>
            <a:r>
              <a:t>Distroless balances minimalism and usability.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Introducing Chainguard Images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13658"/>
          </a:xfrm>
        </p:spPr>
        <p:txBody>
          <a:bodyPr>
            <a:normAutofit lnSpcReduction="10000"/>
          </a:bodyPr>
          <a:lstStyle/>
          <a:p>
            <a:r>
              <a:rPr dirty="0" err="1"/>
              <a:t>Wolfi</a:t>
            </a:r>
            <a:r>
              <a:rPr dirty="0"/>
              <a:t> foundation</a:t>
            </a:r>
          </a:p>
          <a:p>
            <a:r>
              <a:rPr dirty="0" err="1"/>
              <a:t>Distroless</a:t>
            </a:r>
            <a:r>
              <a:rPr lang="en-US" dirty="0"/>
              <a:t> but </a:t>
            </a:r>
            <a:r>
              <a:rPr dirty="0"/>
              <a:t>friendly runtimes</a:t>
            </a:r>
          </a:p>
          <a:p>
            <a:r>
              <a:rPr dirty="0"/>
              <a:t>Signed artifacts</a:t>
            </a:r>
          </a:p>
          <a:p>
            <a:r>
              <a:rPr dirty="0"/>
              <a:t>Continuously rebuilt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C921D3-3779-4CF2-79CE-BF5EA2F11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663" y="3721699"/>
            <a:ext cx="3846079" cy="231365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Continuous Rebuilds and Supply Chain Visibility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Chainguard images are rebuilt daily from source.</a:t>
            </a:r>
          </a:p>
          <a:p>
            <a:r>
              <a:t>SBOMs and signed provenance improve visibility.</a:t>
            </a:r>
          </a:p>
          <a:p>
            <a:r>
              <a:t>Reduce vulnerability drift over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Is </a:t>
            </a:r>
            <a:r>
              <a:rPr dirty="0" err="1"/>
              <a:t>Wolfi</a:t>
            </a:r>
            <a:r>
              <a:rPr lang="en-US" dirty="0"/>
              <a:t> and Why</a:t>
            </a:r>
            <a:r>
              <a:rPr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dirty="0"/>
              <a:t>Container-focused </a:t>
            </a:r>
            <a:r>
              <a:rPr dirty="0" err="1"/>
              <a:t>userspace</a:t>
            </a:r>
            <a:r>
              <a:rPr dirty="0"/>
              <a:t> created by Chainguard.</a:t>
            </a:r>
          </a:p>
          <a:p>
            <a:r>
              <a:rPr dirty="0"/>
              <a:t>Not a traditional Linux distribution.</a:t>
            </a:r>
          </a:p>
          <a:p>
            <a:r>
              <a:rPr dirty="0"/>
              <a:t>Designed for secure cloud-native supply chains.</a:t>
            </a:r>
            <a:endParaRPr lang="en-US" dirty="0"/>
          </a:p>
          <a:p>
            <a:r>
              <a:rPr lang="en-US" dirty="0"/>
              <a:t>Reduce CVE noise</a:t>
            </a:r>
          </a:p>
          <a:p>
            <a:r>
              <a:rPr lang="en-US" dirty="0"/>
              <a:t>Enable rapid rebuilds</a:t>
            </a:r>
          </a:p>
          <a:p>
            <a:r>
              <a:rPr lang="en-US" dirty="0"/>
              <a:t>Granular packaging</a:t>
            </a:r>
          </a:p>
          <a:p>
            <a:r>
              <a:rPr lang="en-US" dirty="0"/>
              <a:t>Improve provenance and SBOM generation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Chainguard Runtime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08-demo-chainguard-python  (cgr.dev/chainguard/python:latest)</a:t>
            </a:r>
          </a:p>
          <a:p>
            <a:pPr lvl="1"/>
            <a:r>
              <a:rPr lang="en-US" dirty="0"/>
              <a:t>No shell -- subprocess(shell=True) fails with HTTP 500</a:t>
            </a:r>
          </a:p>
          <a:p>
            <a:endParaRPr lang="en-US" dirty="0"/>
          </a:p>
          <a:p>
            <a:r>
              <a:rPr lang="en-US" b="1" dirty="0"/>
              <a:t>09-demo-chainguard-java  (cgr.dev/chainguard/jre:latest)</a:t>
            </a:r>
          </a:p>
          <a:p>
            <a:pPr lvl="1"/>
            <a:r>
              <a:rPr lang="en-US" dirty="0"/>
              <a:t>No shell -- Runtime.exec("/bin/sh") returns error in JSON</a:t>
            </a:r>
          </a:p>
          <a:p>
            <a:endParaRPr lang="en-US" dirty="0"/>
          </a:p>
          <a:p>
            <a:r>
              <a:rPr lang="en-US" b="1" dirty="0"/>
              <a:t>10-demo-chainguard-node  (cgr.dev/chainguard/node:latest)</a:t>
            </a:r>
          </a:p>
          <a:p>
            <a:pPr lvl="1"/>
            <a:r>
              <a:rPr lang="en-US" dirty="0"/>
              <a:t>/bin/sh IS present (busybox -- npm requires it) -- exploit WORKS</a:t>
            </a:r>
          </a:p>
          <a:p>
            <a:pPr lvl="1"/>
            <a:r>
              <a:rPr lang="en-US" dirty="0"/>
              <a:t>Chainguard does not mean no-shell. Runtime requirements drive content.</a:t>
            </a:r>
          </a:p>
          <a:p>
            <a:endParaRPr lang="en-US" dirty="0"/>
          </a:p>
          <a:p>
            <a:r>
              <a:rPr lang="en-US" b="1" dirty="0"/>
              <a:t>11-demo-chainguard-go  (cgr.dev/chainguard/static:latest)</a:t>
            </a:r>
          </a:p>
          <a:p>
            <a:pPr lvl="1"/>
            <a:r>
              <a:rPr lang="en-US" dirty="0"/>
              <a:t>No shell -- exec.Command("/bin/sh") fails</a:t>
            </a:r>
          </a:p>
          <a:p>
            <a:endParaRPr lang="en-US" dirty="0"/>
          </a:p>
          <a:p>
            <a:r>
              <a:rPr lang="en-US" dirty="0"/>
              <a:t>All images run as uid=65532 (nonroot)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FIPS Compliance and Containers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FIPS 140-2 / 140-3 cryptographic module validation</a:t>
            </a:r>
          </a:p>
          <a:p>
            <a:r>
              <a:rPr dirty="0"/>
              <a:t>Important for regulated environments</a:t>
            </a:r>
          </a:p>
          <a:p>
            <a:r>
              <a:rPr dirty="0"/>
              <a:t>Containers complicate crypto validation</a:t>
            </a:r>
            <a:endParaRPr lang="en-US" dirty="0"/>
          </a:p>
          <a:p>
            <a:pPr lvl="1"/>
            <a:r>
              <a:rPr lang="en-US" dirty="0"/>
              <a:t>Custom OpenSSL builds</a:t>
            </a:r>
          </a:p>
          <a:p>
            <a:pPr lvl="1"/>
            <a:r>
              <a:rPr lang="en-US" dirty="0"/>
              <a:t>Runtime validation complexity</a:t>
            </a:r>
          </a:p>
          <a:p>
            <a:pPr lvl="1"/>
            <a:r>
              <a:rPr lang="en-US" dirty="0"/>
              <a:t>Operational overhead and patching pain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Chainguard FIPS Images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12-demo-chainguard-fips-python  (python-fips-appd-3.13)</a:t>
            </a:r>
          </a:p>
          <a:p>
            <a:r>
              <a:rPr lang="en-US" dirty="0"/>
              <a:t>  No shell -- subprocess(shell=True) fails with HTTP 500</a:t>
            </a:r>
          </a:p>
          <a:p>
            <a:endParaRPr lang="en-US" dirty="0"/>
          </a:p>
          <a:p>
            <a:r>
              <a:rPr lang="en-US" b="1" dirty="0"/>
              <a:t>13-demo-chainguard-fips-java  (jre-fips-appd-openjdk-17, BouncyCastle FIPS)</a:t>
            </a:r>
          </a:p>
          <a:p>
            <a:r>
              <a:rPr lang="en-US" dirty="0"/>
              <a:t>  No shell -- Runtime.exec("/bin/sh") returns error in JSON</a:t>
            </a:r>
          </a:p>
          <a:p>
            <a:endParaRPr lang="en-US" dirty="0"/>
          </a:p>
          <a:p>
            <a:r>
              <a:rPr lang="en-US" b="1" dirty="0"/>
              <a:t>14-demo-chainguard-fips-node  (node-fips-appd-24-slim)</a:t>
            </a:r>
          </a:p>
          <a:p>
            <a:r>
              <a:rPr lang="en-US" dirty="0"/>
              <a:t>  No shell -- exec() returns ENOENT  (contrast: non-FIPS node has busybox)</a:t>
            </a:r>
          </a:p>
          <a:p>
            <a:endParaRPr lang="en-US" dirty="0"/>
          </a:p>
          <a:p>
            <a:r>
              <a:rPr lang="en-US" b="1" dirty="0"/>
              <a:t>15-demo-chainguard-fips-go  (glibc-openssl-fips, systemcrypto + requirefips)</a:t>
            </a:r>
          </a:p>
          <a:p>
            <a:r>
              <a:rPr lang="en-US" dirty="0"/>
              <a:t>  No shell -- exec.Command("/bin/sh") returns ENOENT</a:t>
            </a:r>
          </a:p>
          <a:p>
            <a:endParaRPr lang="en-US" dirty="0"/>
          </a:p>
          <a:p>
            <a:r>
              <a:rPr lang="en-US" dirty="0"/>
              <a:t>All images run as uid=65532 (nonroot)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FIPS Caveats and Compliance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FIPS-capable images do not automatically make deployments compliant.</a:t>
            </a:r>
          </a:p>
          <a:p>
            <a:r>
              <a:t>Runtime controls and governance still matter.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Chainguard Package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19656" y="2441448"/>
            <a:ext cx="4169663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33333"/>
                </a:solidFill>
              </a:rPr>
              <a:t>docker export $(docker create &lt;image&gt;) | tar -xO usr/lib/apk/db/installed | grep "^P:" | wc -l</a:t>
            </a:r>
          </a:p>
        </p:txBody>
      </p:sp>
      <p:sp>
        <p:nvSpPr>
          <p:cNvPr id="6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097505"/>
              </p:ext>
            </p:extLst>
          </p:nvPr>
        </p:nvGraphicFramePr>
        <p:xfrm>
          <a:off x="274320" y="1188804"/>
          <a:ext cx="859536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Demo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Base Image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Packages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01-demo-debian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debian:12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02-demo-alpine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alpine:3.20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03-demo-ubi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ubi9/ubi:latest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04-demo-debian-slim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debian:12-slim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05-demo-ubi-minimal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ubi9/ubi-minimal:latest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06-demo-scratch-go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scratch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07-demo-scratch-python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scratch (Alpine builder)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08-demo-chainguard-python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cgr.dev/chainguard/python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09-demo-chainguard-java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cgr.dev/chainguard/jre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10-demo-chainguard-node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cgr.dev/chainguard/node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11-demo-chainguard-go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cgr.dev/chainguard/static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12-demo-chainguard-fips-python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chainguard python-fips-3.13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13-demo-chainguard-fips-java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chainguard jre-fips-openjdk-17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14-demo-chainguard-fips-node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chainguard node-fips-24-slim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15-demo-chainguard-fips-go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chainguard glibc-openssl-fips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rPr dirty="0"/>
                        <a:t>16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Vulnerability Scanner Comparison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6437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Ran both scanners against all 15 demo images. Results on following slides.</a:t>
            </a:r>
          </a:p>
          <a:p>
            <a:r>
              <a:rPr lang="en-US" b="1" dirty="0"/>
              <a:t>Trivy:</a:t>
            </a:r>
          </a:p>
          <a:p>
            <a:pPr lvl="1"/>
            <a:r>
              <a:rPr lang="en-US" dirty="0" err="1"/>
              <a:t>trivy</a:t>
            </a:r>
            <a:r>
              <a:rPr lang="en-US" dirty="0"/>
              <a:t> image 01-demo-debian</a:t>
            </a:r>
          </a:p>
          <a:p>
            <a:pPr lvl="1"/>
            <a:r>
              <a:rPr lang="en-US" dirty="0" err="1"/>
              <a:t>trivy</a:t>
            </a:r>
            <a:r>
              <a:rPr lang="en-US" dirty="0"/>
              <a:t> image --severity HIGH,CRITICAL 01-demo-debian</a:t>
            </a:r>
          </a:p>
          <a:p>
            <a:pPr lvl="1"/>
            <a:r>
              <a:rPr lang="en-US" dirty="0" err="1"/>
              <a:t>trivy</a:t>
            </a:r>
            <a:r>
              <a:rPr lang="en-US" dirty="0"/>
              <a:t> image --format table 01-demo-debian</a:t>
            </a:r>
          </a:p>
          <a:p>
            <a:endParaRPr lang="en-US" dirty="0"/>
          </a:p>
          <a:p>
            <a:r>
              <a:rPr lang="en-US" b="1" dirty="0"/>
              <a:t>Docker Scout:</a:t>
            </a:r>
          </a:p>
          <a:p>
            <a:pPr lvl="1"/>
            <a:r>
              <a:rPr lang="en-US" dirty="0"/>
              <a:t>docker scout cves local://01-demo-debian</a:t>
            </a:r>
          </a:p>
          <a:p>
            <a:pPr lvl="1"/>
            <a:r>
              <a:rPr lang="en-US" dirty="0"/>
              <a:t>docker scout cves --only-severity critical,high local://01-demo-debian</a:t>
            </a:r>
          </a:p>
          <a:p>
            <a:pPr lvl="1"/>
            <a:r>
              <a:rPr lang="en-US" dirty="0"/>
              <a:t>docker scout recommendations local://01-demo-debian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4988"/>
          </a:xfrm>
        </p:spPr>
        <p:txBody>
          <a:bodyPr>
            <a:normAutofit/>
          </a:bodyPr>
          <a:lstStyle/>
          <a:p>
            <a:r>
              <a:rPr dirty="0" err="1"/>
              <a:t>Trivy</a:t>
            </a:r>
            <a:r>
              <a:rPr dirty="0"/>
              <a:t> Vulnerability Scan Results</a:t>
            </a:r>
          </a:p>
        </p:txBody>
      </p:sp>
      <p:sp>
        <p:nvSpPr>
          <p:cNvPr id="6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738883"/>
              </p:ext>
            </p:extLst>
          </p:nvPr>
        </p:nvGraphicFramePr>
        <p:xfrm>
          <a:off x="274320" y="1199626"/>
          <a:ext cx="859536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Demo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MED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01-demo-debian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992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774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1991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02-demo-alpine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03-demo-ubi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134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228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364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04-demo-debian-slim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204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992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774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1991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05-demo-ubi-minimal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71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189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06-demo-scratch-go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07-demo-scratch-python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08-demo-chainguard-python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09-demo-chainguard-java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10-demo-chainguard-node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11-demo-chainguard-go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12-demo-chainguard-fips-python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13-demo-chainguard-fips-java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14-demo-chainguard-fips-node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15-demo-chainguard-fips-go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dirty="0"/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93446FA-34A4-4D75-4B29-3F1C2A33F783}"/>
              </a:ext>
            </a:extLst>
          </p:cNvPr>
          <p:cNvSpPr txBox="1"/>
          <p:nvPr/>
        </p:nvSpPr>
        <p:spPr>
          <a:xfrm>
            <a:off x="5419101" y="5902746"/>
            <a:ext cx="3192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Scans were done on 2026-06-04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84128" cy="1008878"/>
          </a:xfrm>
        </p:spPr>
        <p:txBody>
          <a:bodyPr>
            <a:normAutofit fontScale="90000"/>
          </a:bodyPr>
          <a:lstStyle/>
          <a:p>
            <a:r>
              <a:rPr dirty="0"/>
              <a:t>Docker Scout Vulnerability Scan</a:t>
            </a:r>
            <a:r>
              <a:rPr lang="en-US" dirty="0"/>
              <a:t> </a:t>
            </a:r>
            <a:r>
              <a:rPr dirty="0"/>
              <a:t>Results</a:t>
            </a:r>
          </a:p>
        </p:txBody>
      </p:sp>
      <p:sp>
        <p:nvSpPr>
          <p:cNvPr id="6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027996"/>
              </p:ext>
            </p:extLst>
          </p:nvPr>
        </p:nvGraphicFramePr>
        <p:xfrm>
          <a:off x="301584" y="1158134"/>
          <a:ext cx="859536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Demo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MED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01-demo-debian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179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02-demo-alpine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03-demo-ubi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04-demo-debian-slim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179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05-demo-ubi-minimal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06-demo-scratch-go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07-demo-scratch-python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08-demo-chainguard-python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09-demo-chainguard-java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10-demo-chainguard-node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11-demo-chainguard-go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12-demo-chainguard-fips-python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13-demo-chainguard-fips-java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14-demo-chainguard-fips-node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15-demo-chainguard-fips-go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dirty="0"/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dirty="0"/>
                        <a:t>0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dirty="0"/>
                        <a:t>3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048EF2-E790-4202-7F18-1CE9A56E5731}"/>
              </a:ext>
            </a:extLst>
          </p:cNvPr>
          <p:cNvSpPr txBox="1"/>
          <p:nvPr/>
        </p:nvSpPr>
        <p:spPr>
          <a:xfrm>
            <a:off x="4693549" y="5848588"/>
            <a:ext cx="3192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Scans were done on 2026-06-04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Chainguard Images: Docker Scout CVE Detail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300891"/>
              </p:ext>
            </p:extLst>
          </p:nvPr>
        </p:nvGraphicFramePr>
        <p:xfrm>
          <a:off x="274320" y="1723099"/>
          <a:ext cx="8595360" cy="3822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6003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Demo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CVE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Fixed In</a:t>
                      </a:r>
                    </a:p>
                  </a:txBody>
                  <a:tcPr>
                    <a:solidFill>
                      <a:srgbClr val="2E40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6003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 dirty="0"/>
                        <a:t>08 + 12  (Python)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 dirty="0"/>
                        <a:t>CVE-2026-27205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flask 3.1.1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LOW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2026-02-21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3.1.3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6003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13  (FIPS Java)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CVE-2025-12194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bc-fips 2.1.1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MEDIUM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2025-10-24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2.1.2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6003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13  (FIPS Java)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CVE-2026-8149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bc-fips 2.1.1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MEDIUM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2026-05-08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721C24"/>
                          </a:solidFill>
                        </a:defRPr>
                      </a:pPr>
                      <a:r>
                        <a:rPr sz="1400"/>
                        <a:t>not fixed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6003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15  (FIPS Go)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CVE-2026-42504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go stdlib 1.26.3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HIGH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2026-06-02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go 1.26.4</a:t>
                      </a:r>
                    </a:p>
                  </a:txBody>
                  <a:tcPr>
                    <a:solidFill>
                      <a:srgbClr val="F5C6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6003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15  (FIPS Go)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CVE-2026-42507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go stdlib 1.26.3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MEDIUM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2026-06-02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go 1.26.4</a:t>
                      </a:r>
                    </a:p>
                  </a:txBody>
                  <a:tcPr>
                    <a:solidFill>
                      <a:srgbClr val="FD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6003"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15  (FIPS Go)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CVE-2026-27145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go stdlib 1.26.3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400"/>
                        <a:t>UNSPEC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/>
                        <a:t>2026-06-02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/>
                      </a:pPr>
                      <a:r>
                        <a:rPr sz="1400" dirty="0"/>
                        <a:t>go 1.26.4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F6CC1E-ACC3-4B2A-B004-4437D899453A}"/>
              </a:ext>
            </a:extLst>
          </p:cNvPr>
          <p:cNvSpPr txBox="1"/>
          <p:nvPr/>
        </p:nvSpPr>
        <p:spPr>
          <a:xfrm>
            <a:off x="3074474" y="5696854"/>
            <a:ext cx="3192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Scans were done on 2026-06-04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Distroless Is Not a Silver Bullet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Security:</a:t>
            </a:r>
          </a:p>
          <a:p>
            <a:pPr lvl="1"/>
            <a:r>
              <a:rPr dirty="0"/>
              <a:t>Does not prevent compromise</a:t>
            </a:r>
          </a:p>
          <a:p>
            <a:pPr lvl="1"/>
            <a:r>
              <a:rPr dirty="0"/>
              <a:t>Does not eliminate vulnerabilities</a:t>
            </a:r>
          </a:p>
          <a:p>
            <a:pPr lvl="1"/>
            <a:r>
              <a:rPr dirty="0"/>
              <a:t>Should be part of defense in depth</a:t>
            </a:r>
            <a:endParaRPr lang="en-US" dirty="0"/>
          </a:p>
          <a:p>
            <a:r>
              <a:rPr lang="en-US" dirty="0"/>
              <a:t>Operational Tradeoffs:</a:t>
            </a:r>
          </a:p>
          <a:p>
            <a:pPr lvl="1"/>
            <a:r>
              <a:rPr lang="en-US" dirty="0"/>
              <a:t>Harder debugging</a:t>
            </a:r>
          </a:p>
          <a:p>
            <a:pPr lvl="1"/>
            <a:r>
              <a:rPr lang="en-US" dirty="0"/>
              <a:t>Different troubleshooting workflows</a:t>
            </a:r>
          </a:p>
          <a:p>
            <a:pPr lvl="1"/>
            <a:r>
              <a:rPr lang="en-US" dirty="0"/>
              <a:t>Compatibility edge cases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Debugging Distroless Containers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kubectl debug</a:t>
            </a:r>
          </a:p>
          <a:p>
            <a:r>
              <a:t>Ephemeral containers</a:t>
            </a:r>
          </a:p>
          <a:p>
            <a:r>
              <a:t>Separate debug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You Actually Need a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Valid operational cases exist.</a:t>
            </a:r>
          </a:p>
          <a:p>
            <a:r>
              <a:t>Use dedicated debug images rather than bloating production runtimes.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Container Hardening Beyond Distroless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 as non-root</a:t>
            </a:r>
          </a:p>
          <a:p>
            <a:r>
              <a:t>Read-only filesystems</a:t>
            </a:r>
          </a:p>
          <a:p>
            <a:r>
              <a:t>Drop capabilities</a:t>
            </a:r>
          </a:p>
          <a:p>
            <a:r>
              <a:t>Use seccomp/AppArmor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Recommended Architecture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Multi-stage builds</a:t>
            </a:r>
          </a:p>
          <a:p>
            <a:r>
              <a:t>Minimal runtime images</a:t>
            </a:r>
          </a:p>
          <a:p>
            <a:r>
              <a:t>Signed images</a:t>
            </a:r>
          </a:p>
          <a:p>
            <a:r>
              <a:t>CI/CD scanning and SBOM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Repository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Dockerfiles</a:t>
            </a:r>
          </a:p>
          <a:p>
            <a:r>
              <a:t>Scanning scripts</a:t>
            </a:r>
          </a:p>
          <a:p>
            <a:r>
              <a:t>Runtime examples</a:t>
            </a:r>
          </a:p>
          <a:p>
            <a:r>
              <a:t>Speaker notes and 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Distroless reduces runtime attack surface.</a:t>
            </a:r>
          </a:p>
          <a:p>
            <a:r>
              <a:t>Wolfi modernizes container packaging.</a:t>
            </a:r>
          </a:p>
          <a:p>
            <a:r>
              <a:t>Chainguard improves supply chain visibility and operational security.</a:t>
            </a:r>
          </a:p>
          <a:p>
            <a:r>
              <a:t>Security is risk reduction, not magic.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GitHub repository and examples available after the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64">
                <a:solidFill>
                  <a:srgbClr val="646464"/>
                </a:solidFill>
              </a:defRPr>
            </a:pPr>
            <a:r>
              <a:t>Additional implementation details, Dockerfiles, scripts, and speaker notes will be available in the GitHub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1095</TotalTime>
  <Words>3257</Words>
  <Application>Microsoft Macintosh PowerPoint</Application>
  <PresentationFormat>On-screen Show (4:3)</PresentationFormat>
  <Paragraphs>674</Paragraphs>
  <Slides>33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Arial</vt:lpstr>
      <vt:lpstr>Calibri</vt:lpstr>
      <vt:lpstr>Office Theme</vt:lpstr>
      <vt:lpstr>Distroless Containers: Less OS, Less Risk</vt:lpstr>
      <vt:lpstr>Who Am I?</vt:lpstr>
      <vt:lpstr>What Attackers Want Inside Containers</vt:lpstr>
      <vt:lpstr>Demo: Command Injection</vt:lpstr>
      <vt:lpstr>Why Are We Shipping Entire Operating Systems?</vt:lpstr>
      <vt:lpstr>Traditional Base Image Comparison</vt:lpstr>
      <vt:lpstr>Demo: Enumerating Packages</vt:lpstr>
      <vt:lpstr>Why Existing Linux Distributions Struggle in Containers</vt:lpstr>
      <vt:lpstr>Distroless Containers Explained</vt:lpstr>
      <vt:lpstr>Scratch Images and Static Binaries</vt:lpstr>
      <vt:lpstr>Demo: Static with Go App</vt:lpstr>
      <vt:lpstr>Demo: Scratch with Python App</vt:lpstr>
      <vt:lpstr>Distroless as the Practical Middle Ground</vt:lpstr>
      <vt:lpstr>Introducing Chainguard Images</vt:lpstr>
      <vt:lpstr>Continuous Rebuilds and Supply Chain Visibility</vt:lpstr>
      <vt:lpstr>What Is Wolfi and Why?</vt:lpstr>
      <vt:lpstr>Chainguard Runtime Examples</vt:lpstr>
      <vt:lpstr>FIPS Compliance and Containers</vt:lpstr>
      <vt:lpstr>Chainguard FIPS Images</vt:lpstr>
      <vt:lpstr>FIPS Caveats and Compliance Reality</vt:lpstr>
      <vt:lpstr>Demo: Chainguard Package Counts</vt:lpstr>
      <vt:lpstr>Vulnerability Scanner Comparison Demo</vt:lpstr>
      <vt:lpstr>Trivy Vulnerability Scan Results</vt:lpstr>
      <vt:lpstr>Docker Scout Vulnerability Scan Results</vt:lpstr>
      <vt:lpstr>Chainguard Images: Docker Scout CVE Detail</vt:lpstr>
      <vt:lpstr>Distroless Is Not a Silver Bullet</vt:lpstr>
      <vt:lpstr>Debugging Distroless Containers</vt:lpstr>
      <vt:lpstr>When You Actually Need a Shell</vt:lpstr>
      <vt:lpstr>Container Hardening Beyond Distroless</vt:lpstr>
      <vt:lpstr>Recommended Architecture Patterns</vt:lpstr>
      <vt:lpstr>Demo Repository Walkthrough</vt:lpstr>
      <vt:lpstr>Key Takeaways</vt:lpstr>
      <vt:lpstr>Questions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Mello Kirouac (bkirouac)</cp:lastModifiedBy>
  <cp:revision>37</cp:revision>
  <dcterms:created xsi:type="dcterms:W3CDTF">2013-01-27T09:14:16Z</dcterms:created>
  <dcterms:modified xsi:type="dcterms:W3CDTF">2026-06-05T03:46:59Z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Cisco Confidential</vt:lpwstr>
  </property>
</Properties>
</file>