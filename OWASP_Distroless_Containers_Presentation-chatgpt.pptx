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59" r:id="rId4"/>
    <p:sldId id="293" r:id="rId5"/>
    <p:sldId id="257" r:id="rId6"/>
    <p:sldId id="260" r:id="rId7"/>
    <p:sldId id="261" r:id="rId8"/>
    <p:sldId id="263" r:id="rId9"/>
    <p:sldId id="267" r:id="rId10"/>
    <p:sldId id="269" r:id="rId11"/>
    <p:sldId id="270" r:id="rId12"/>
    <p:sldId id="268" r:id="rId13"/>
    <p:sldId id="273" r:id="rId14"/>
    <p:sldId id="274" r:id="rId15"/>
    <p:sldId id="275" r:id="rId16"/>
    <p:sldId id="265" r:id="rId17"/>
    <p:sldId id="276" r:id="rId18"/>
    <p:sldId id="277" r:id="rId19"/>
    <p:sldId id="279" r:id="rId20"/>
    <p:sldId id="280" r:id="rId21"/>
    <p:sldId id="294" r:id="rId22"/>
    <p:sldId id="281" r:id="rId23"/>
    <p:sldId id="295" r:id="rId24"/>
    <p:sldId id="296" r:id="rId25"/>
    <p:sldId id="297" r:id="rId26"/>
    <p:sldId id="283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8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625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- Keep pacing fast.</a:t>
            </a:r>
          </a:p>
          <a:p>
            <a:r>
              <a:t>- Avoid over-explaining container basics.</a:t>
            </a:r>
          </a:p>
          <a:p>
            <a:r>
              <a:t>- Emphasize operational tradeoffs and security outcomes.</a:t>
            </a:r>
          </a:p>
          <a:p>
            <a:r>
              <a:t>- Refer audience to GitHub repository for full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96983-60C2-BA3E-86C0-01E66456C5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67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Distroless Containers: Less OS, Less Risk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OWASP Tampa Chapter</a:t>
            </a:r>
          </a:p>
          <a:p>
            <a:r>
              <a:rPr sz="3600" b="1">
                <a:solidFill>
                  <a:srgbClr val="FFFFFF"/>
                </a:solidFill>
              </a:rPr>
              <a:t>Practical container hardening with distroless, Wolfi, and Chainguard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4440" y="5074920"/>
            <a:ext cx="6675120" cy="6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b="1">
                <a:solidFill>
                  <a:srgbClr val="F7A800"/>
                </a:solidFill>
              </a:rPr>
              <a:t>Mello Bkirouac</a:t>
            </a:r>
          </a:p>
          <a:p>
            <a:pPr lvl="1"/>
            <a:r>
              <a:rPr sz="1600" b="0">
                <a:solidFill>
                  <a:srgbClr val="D0D8E0"/>
                </a:solidFill>
              </a:rPr>
              <a:t>Information Security Architect at Cisco</a:t>
            </a:r>
          </a:p>
          <a:p>
            <a:pPr lvl="1"/>
            <a:r>
              <a:rPr sz="1600" b="0">
                <a:solidFill>
                  <a:srgbClr val="D0D8E0"/>
                </a:solidFill>
              </a:rPr>
              <a:t>35 years in security architecture</a:t>
            </a:r>
          </a:p>
          <a:p>
            <a:pPr lvl="1"/>
            <a:r>
              <a:rPr sz="1600" b="0">
                <a:solidFill>
                  <a:srgbClr val="D0D8E0"/>
                </a:solidFill>
              </a:rPr>
              <a:t>OWASP Tampa member</a:t>
            </a:r>
          </a:p>
          <a:p>
            <a:pPr lvl="1"/>
            <a:r>
              <a:rPr sz="1600" b="0">
                <a:solidFill>
                  <a:srgbClr val="D0D8E0"/>
                </a:solidFill>
              </a:rPr>
              <a:t>Biker, Floridian, container security nerd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>
                <a:solidFill>
                  <a:srgbClr val="FFFFFF"/>
                </a:solidFill>
              </a:rPr>
              <a:t>What Attackers Want Inside Containers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D0D8E0"/>
                </a:solidFill>
              </a:rPr>
              <a:t>/bin/sh or bash</a:t>
            </a:r>
          </a:p>
          <a:p>
            <a:r>
              <a:rPr lang="en-US" sz="1600">
                <a:solidFill>
                  <a:srgbClr val="D0D8E0"/>
                </a:solidFill>
              </a:rPr>
              <a:t>curl/wget</a:t>
            </a:r>
          </a:p>
          <a:p>
            <a:r>
              <a:rPr lang="en-US" sz="1600">
                <a:solidFill>
                  <a:srgbClr val="D0D8E0"/>
                </a:solidFill>
              </a:rPr>
              <a:t>Package managers</a:t>
            </a:r>
          </a:p>
          <a:p>
            <a:r>
              <a:rPr lang="en-US" sz="1600">
                <a:solidFill>
                  <a:srgbClr val="D0D8E0"/>
                </a:solidFill>
              </a:rPr>
              <a:t>Interpreters and debugging utilities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8F6FC-D237-4828-1CA6-8329B68A1E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87" r="14086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3" name="Rectangle 12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6400" y="4394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400" y="3632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6400" y="2870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6400" y="2108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</a:rPr>
              <a:t>Demo: Command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600" b="1">
                <a:solidFill>
                  <a:srgbClr val="F7A800"/>
                </a:solidFill>
              </a:rPr>
              <a:t>01-demo-debian  (debian:12, shell present)</a:t>
            </a:r>
          </a:p>
          <a:p>
            <a:r>
              <a:rPr lang="en-US" sz="1600" b="1">
                <a:solidFill>
                  <a:srgbClr val="F7A800"/>
                </a:solidFill>
              </a:rPr>
              <a:t>Build and run: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docker build -f Dockerfile -t 01-demo-debian ..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docker run -d --name 01-demo-debian -p 5001:5000 01-demo-debian</a:t>
            </a:r>
          </a:p>
          <a:p>
            <a:r>
              <a:rPr lang="en-US" sz="1600" b="1">
                <a:solidFill>
                  <a:srgbClr val="F7A800"/>
                </a:solidFill>
              </a:rPr>
              <a:t>Normal request: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curl "http://localhost:5001/ping?host=8.8.8.8"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{ "returncode": 0, "stdout": "... 2 packets transmitted ..." }</a:t>
            </a:r>
          </a:p>
          <a:p>
            <a:r>
              <a:rPr lang="en-US" sz="1600" b="1">
                <a:solidFill>
                  <a:srgbClr val="F7A800"/>
                </a:solidFill>
              </a:rPr>
              <a:t>Exploit: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curl "http://localhost:5001/ping?host=8.8.8.8%3B+id"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{ "stdout": "PING 8.8.8.8 ...\nuid=10001(appuser) gid=10001(appuser)" }</a:t>
            </a:r>
          </a:p>
          <a:p>
            <a:r>
              <a:rPr lang="en-US" sz="1600" b="1">
                <a:solidFill>
                  <a:srgbClr val="F7A800"/>
                </a:solidFill>
              </a:rPr>
              <a:t>Shell access:</a:t>
            </a:r>
          </a:p>
          <a:p>
            <a:pPr lvl="1"/>
            <a:r>
              <a:rPr lang="en-US" sz="1300" b="0">
                <a:solidFill>
                  <a:srgbClr val="A8D8FF"/>
                </a:solidFill>
                <a:latin typeface="Courier New"/>
              </a:rPr>
              <a:t>docker exec -it 01-demo-debian /bin/bash</a:t>
            </a:r>
            <a:endParaRPr lang="en-US" b="0" dirty="0"/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Why Are We Shipping Entire Operating Systems?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1600" dirty="0">
                <a:solidFill>
                  <a:srgbClr val="D0D8E0"/>
                </a:solidFill>
              </a:rPr>
              <a:t>Modern containers often include shells, package managers, editors, and debugging tools.</a:t>
            </a:r>
          </a:p>
          <a:p>
            <a:r>
              <a:rPr sz="1600" dirty="0">
                <a:solidFill>
                  <a:srgbClr val="D0D8E0"/>
                </a:solidFill>
              </a:rPr>
              <a:t>Many workloads only need an application binary and runtime.</a:t>
            </a:r>
          </a:p>
          <a:p>
            <a:r>
              <a:rPr sz="1600" dirty="0">
                <a:solidFill>
                  <a:srgbClr val="D0D8E0"/>
                </a:solidFill>
              </a:rPr>
              <a:t>More software means more attack surface and more CVEs.</a:t>
            </a:r>
          </a:p>
          <a:p>
            <a:endParaRPr dirty="0"/>
          </a:p>
          <a:p>
            <a:r>
              <a:rPr sz="1600" b="1" dirty="0">
                <a:solidFill>
                  <a:srgbClr val="F7A800"/>
                </a:solidFill>
              </a:rPr>
              <a:t>The consequences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Extra packages increase operational exposure.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Attackers benefit from built-in tooling.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Vulnerability scanners produce more noise with larger images.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Traditional Base Image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>
                <a:solidFill>
                  <a:srgbClr val="D0D8E0"/>
                </a:solidFill>
              </a:rPr>
              <a:t>Ubuntu/Debian</a:t>
            </a:r>
            <a:r>
              <a:rPr lang="en-US" sz="1600" dirty="0">
                <a:solidFill>
                  <a:srgbClr val="D0D8E0"/>
                </a:solidFill>
              </a:rPr>
              <a:t>/UBI</a:t>
            </a:r>
            <a:r>
              <a:rPr sz="1600" dirty="0">
                <a:solidFill>
                  <a:srgbClr val="D0D8E0"/>
                </a:solidFill>
              </a:rPr>
              <a:t>: large, convenient, broad attack surface</a:t>
            </a:r>
          </a:p>
          <a:p>
            <a:r>
              <a:rPr lang="en-US" sz="1600" dirty="0">
                <a:solidFill>
                  <a:srgbClr val="D0D8E0"/>
                </a:solidFill>
              </a:rPr>
              <a:t>Debian-slim/</a:t>
            </a:r>
            <a:r>
              <a:rPr sz="1600" dirty="0">
                <a:solidFill>
                  <a:srgbClr val="D0D8E0"/>
                </a:solidFill>
              </a:rPr>
              <a:t>UBI</a:t>
            </a:r>
            <a:r>
              <a:rPr lang="en-US" sz="1600" dirty="0">
                <a:solidFill>
                  <a:srgbClr val="D0D8E0"/>
                </a:solidFill>
              </a:rPr>
              <a:t>-</a:t>
            </a:r>
            <a:r>
              <a:rPr sz="1600" dirty="0">
                <a:solidFill>
                  <a:srgbClr val="D0D8E0"/>
                </a:solidFill>
              </a:rPr>
              <a:t>Minimal: smaller but still includes tooling</a:t>
            </a:r>
          </a:p>
          <a:p>
            <a:r>
              <a:rPr sz="1600" dirty="0">
                <a:solidFill>
                  <a:srgbClr val="D0D8E0"/>
                </a:solidFill>
              </a:rPr>
              <a:t>Alpine: lightweight but still a full distro</a:t>
            </a:r>
          </a:p>
          <a:p>
            <a:r>
              <a:rPr sz="1600" dirty="0" err="1">
                <a:solidFill>
                  <a:srgbClr val="D0D8E0"/>
                </a:solidFill>
              </a:rPr>
              <a:t>Distroless</a:t>
            </a:r>
            <a:r>
              <a:rPr sz="1600" dirty="0">
                <a:solidFill>
                  <a:srgbClr val="D0D8E0"/>
                </a:solidFill>
              </a:rPr>
              <a:t>: runtime-focused</a:t>
            </a:r>
          </a:p>
          <a:p>
            <a:r>
              <a:rPr sz="1600" dirty="0">
                <a:solidFill>
                  <a:srgbClr val="D0D8E0"/>
                </a:solidFill>
              </a:rPr>
              <a:t>Scratch: nearly 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Demo: Enumerating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090FF4-FF42-15A9-B620-097D80B71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" y="1193424"/>
            <a:ext cx="8166683" cy="1246284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r>
              <a:rPr lang="en-US" sz="1600" dirty="0">
                <a:solidFill>
                  <a:srgbClr val="D0D8E0"/>
                </a:solidFill>
              </a:rPr>
              <a:t>Standard images contain tooling unrelated to runtime execution.</a:t>
            </a:r>
          </a:p>
          <a:p>
            <a:r>
              <a:rPr lang="en-US" sz="1600" dirty="0">
                <a:solidFill>
                  <a:srgbClr val="D0D8E0"/>
                </a:solidFill>
              </a:rPr>
              <a:t>Even minimal images still contain tooling unrelated to runtime execution.</a:t>
            </a:r>
          </a:p>
          <a:p>
            <a:r>
              <a:rPr lang="en-US" sz="1600" dirty="0">
                <a:solidFill>
                  <a:srgbClr val="D0D8E0"/>
                </a:solidFill>
              </a:rPr>
              <a:t>Operational convenience often increases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6217" y="2439707"/>
            <a:ext cx="4165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1" dirty="0">
                <a:solidFill>
                  <a:srgbClr val="607890"/>
                </a:solidFill>
              </a:rPr>
              <a:t>docker run --rm 01-demo-debian </a:t>
            </a:r>
            <a:r>
              <a:rPr sz="1000" b="1" i="1" dirty="0" err="1">
                <a:solidFill>
                  <a:srgbClr val="607890"/>
                </a:solidFill>
              </a:rPr>
              <a:t>dpkg</a:t>
            </a:r>
            <a:r>
              <a:rPr sz="1000" b="1" i="1" dirty="0">
                <a:solidFill>
                  <a:srgbClr val="607890"/>
                </a:solidFill>
              </a:rPr>
              <a:t> -l | </a:t>
            </a:r>
            <a:r>
              <a:rPr sz="1000" b="1" i="1" dirty="0" err="1">
                <a:solidFill>
                  <a:srgbClr val="607890"/>
                </a:solidFill>
              </a:rPr>
              <a:t>wc</a:t>
            </a:r>
            <a:r>
              <a:rPr sz="1000" b="1" i="1" dirty="0">
                <a:solidFill>
                  <a:srgbClr val="607890"/>
                </a:solidFill>
              </a:rPr>
              <a:t> -l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284516"/>
              </p:ext>
            </p:extLst>
          </p:nvPr>
        </p:nvGraphicFramePr>
        <p:xfrm>
          <a:off x="457200" y="2952606"/>
          <a:ext cx="5684532" cy="3060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Demo Image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dpkg</a:t>
                      </a:r>
                      <a:r>
                        <a:rPr dirty="0"/>
                        <a:t> -l / </a:t>
                      </a:r>
                      <a:r>
                        <a:rPr dirty="0" err="1"/>
                        <a:t>apk</a:t>
                      </a:r>
                      <a:r>
                        <a:rPr dirty="0"/>
                        <a:t> list / rpm -</a:t>
                      </a:r>
                      <a:r>
                        <a:rPr dirty="0" err="1"/>
                        <a:t>qa</a:t>
                      </a:r>
                      <a:r>
                        <a:rPr dirty="0"/>
                        <a:t> | </a:t>
                      </a:r>
                      <a:r>
                        <a:rPr dirty="0" err="1"/>
                        <a:t>wc</a:t>
                      </a:r>
                      <a:r>
                        <a:rPr dirty="0"/>
                        <a:t> -l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Full Images</a:t>
                      </a:r>
                    </a:p>
                  </a:txBody>
                  <a:tcPr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01-demo-debian     (debian:12)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02-demo-alpine     (alpine:3.20)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03-demo-ubi        (ubi9/ubi:latest)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Minimal Images</a:t>
                      </a:r>
                    </a:p>
                  </a:txBody>
                  <a:tcPr>
                    <a:solidFill>
                      <a:srgbClr val="1B6C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B6C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04-demo-debian-slim  (debian:12-slim) — slim strips docs/locales, same package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05-demo-ubi-minimal  (ubi9/ubi-minimal:latest)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rPr dirty="0"/>
                        <a:t>119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2C0AF8F-BC8E-09C9-0BBA-3605842DF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07" y="2224748"/>
            <a:ext cx="2327363" cy="297110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Why Existing Linux Distributions Struggle in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7875" y="1899846"/>
            <a:ext cx="5238925" cy="3835866"/>
          </a:xfrm>
        </p:spPr>
        <p:txBody>
          <a:bodyPr>
            <a:normAutofit lnSpcReduction="10000"/>
          </a:bodyPr>
          <a:lstStyle/>
          <a:p>
            <a:r>
              <a:rPr sz="1600" dirty="0">
                <a:solidFill>
                  <a:srgbClr val="D0D8E0"/>
                </a:solidFill>
              </a:rPr>
              <a:t>Traditional Linux distros were designed for servers and VMs.</a:t>
            </a:r>
          </a:p>
          <a:p>
            <a:r>
              <a:rPr sz="1600" dirty="0">
                <a:solidFill>
                  <a:srgbClr val="D0D8E0"/>
                </a:solidFill>
              </a:rPr>
              <a:t>Containers are immutable and single-purpose.</a:t>
            </a:r>
          </a:p>
          <a:p>
            <a:r>
              <a:rPr sz="1600" dirty="0">
                <a:solidFill>
                  <a:srgbClr val="D0D8E0"/>
                </a:solidFill>
              </a:rPr>
              <a:t>Package managers and shells are often unnecessary at runtime.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D49DA6-E878-5446-BDEA-42E41A32D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3075460" cy="46234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Distroless Containers Explained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C3641-BFD2-38BD-8BA2-015C18A9D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562" y="3201794"/>
            <a:ext cx="4839535" cy="31532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4357" y="1417638"/>
            <a:ext cx="7422444" cy="2374901"/>
          </a:xfrm>
        </p:spPr>
        <p:txBody>
          <a:bodyPr/>
          <a:lstStyle/>
          <a:p>
            <a:r>
              <a:rPr sz="1600" dirty="0">
                <a:solidFill>
                  <a:srgbClr val="D0D8E0"/>
                </a:solidFill>
              </a:rPr>
              <a:t>Runtime-only philosophy</a:t>
            </a:r>
          </a:p>
          <a:p>
            <a:r>
              <a:rPr sz="1600" dirty="0">
                <a:solidFill>
                  <a:srgbClr val="D0D8E0"/>
                </a:solidFill>
              </a:rPr>
              <a:t>No shell</a:t>
            </a:r>
          </a:p>
          <a:p>
            <a:r>
              <a:rPr sz="1600" dirty="0">
                <a:solidFill>
                  <a:srgbClr val="D0D8E0"/>
                </a:solidFill>
              </a:rPr>
              <a:t>No package manager</a:t>
            </a:r>
          </a:p>
          <a:p>
            <a:r>
              <a:rPr sz="1600" dirty="0">
                <a:solidFill>
                  <a:srgbClr val="D0D8E0"/>
                </a:solidFill>
              </a:rPr>
              <a:t>Reduce attacker 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Scratch Images and Static Binaries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>
                <a:solidFill>
                  <a:srgbClr val="D0D8E0"/>
                </a:solidFill>
              </a:rPr>
              <a:t>Extremely small attack surface.</a:t>
            </a:r>
          </a:p>
          <a:p>
            <a:r>
              <a:rPr lang="en-US" sz="1600" dirty="0">
                <a:solidFill>
                  <a:srgbClr val="D0D8E0"/>
                </a:solidFill>
              </a:rPr>
              <a:t>“</a:t>
            </a:r>
            <a:r>
              <a:rPr sz="1600" dirty="0">
                <a:solidFill>
                  <a:srgbClr val="D0D8E0"/>
                </a:solidFill>
              </a:rPr>
              <a:t>FROM scratch</a:t>
            </a:r>
            <a:r>
              <a:rPr lang="en-US" sz="1600" dirty="0">
                <a:solidFill>
                  <a:srgbClr val="D0D8E0"/>
                </a:solidFill>
              </a:rPr>
              <a:t>"</a:t>
            </a:r>
            <a:r>
              <a:rPr sz="1600" dirty="0">
                <a:solidFill>
                  <a:srgbClr val="D0D8E0"/>
                </a:solidFill>
              </a:rPr>
              <a:t> creates nearly empty images.</a:t>
            </a:r>
            <a:endParaRPr lang="en-US" dirty="0"/>
          </a:p>
          <a:p>
            <a:r>
              <a:rPr lang="en-US" sz="1600" dirty="0">
                <a:solidFill>
                  <a:srgbClr val="D0D8E0"/>
                </a:solidFill>
              </a:rPr>
              <a:t>Need create /</a:t>
            </a:r>
            <a:r>
              <a:rPr lang="en-US" sz="1600" dirty="0" err="1">
                <a:solidFill>
                  <a:srgbClr val="D0D8E0"/>
                </a:solidFill>
              </a:rPr>
              <a:t>etc</a:t>
            </a:r>
            <a:r>
              <a:rPr lang="en-US" sz="1600" dirty="0">
                <a:solidFill>
                  <a:srgbClr val="D0D8E0"/>
                </a:solidFill>
              </a:rPr>
              <a:t>/passwd and then copy over for user mapping</a:t>
            </a:r>
            <a:endParaRPr dirty="0"/>
          </a:p>
          <a:p>
            <a:r>
              <a:rPr sz="1600" dirty="0">
                <a:solidFill>
                  <a:srgbClr val="D0D8E0"/>
                </a:solidFill>
              </a:rPr>
              <a:t>Static binaries are </a:t>
            </a:r>
            <a:r>
              <a:rPr lang="en-US" sz="1600" dirty="0">
                <a:solidFill>
                  <a:srgbClr val="D0D8E0"/>
                </a:solidFill>
              </a:rPr>
              <a:t>easy.  </a:t>
            </a:r>
          </a:p>
          <a:p>
            <a:r>
              <a:rPr lang="en-US" sz="1600" dirty="0">
                <a:solidFill>
                  <a:srgbClr val="D0D8E0"/>
                </a:solidFill>
              </a:rPr>
              <a:t>Dynamic binaries</a:t>
            </a:r>
            <a:r>
              <a:rPr sz="1600" dirty="0">
                <a:solidFill>
                  <a:srgbClr val="D0D8E0"/>
                </a:solidFill>
              </a:rPr>
              <a:t> requir</a:t>
            </a:r>
            <a:r>
              <a:rPr lang="en-US" sz="1600" dirty="0">
                <a:solidFill>
                  <a:srgbClr val="D0D8E0"/>
                </a:solidFill>
              </a:rPr>
              <a:t>e a lot more work.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Missing </a:t>
            </a:r>
            <a:r>
              <a:rPr lang="en-US" sz="1600" dirty="0" err="1">
                <a:solidFill>
                  <a:srgbClr val="D0D8E0"/>
                </a:solidFill>
              </a:rPr>
              <a:t>libc</a:t>
            </a:r>
            <a:r>
              <a:rPr lang="en-US" sz="1600" dirty="0">
                <a:solidFill>
                  <a:srgbClr val="D0D8E0"/>
                </a:solidFill>
              </a:rPr>
              <a:t>/</a:t>
            </a:r>
            <a:r>
              <a:rPr lang="en-US" sz="1600" dirty="0" err="1">
                <a:solidFill>
                  <a:srgbClr val="D0D8E0"/>
                </a:solidFill>
              </a:rPr>
              <a:t>glibc</a:t>
            </a:r>
            <a:endParaRPr lang="en-US" dirty="0"/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Missing runtime loaders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Shared library dependencies are absent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06400" y="4394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400" y="3632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400" y="2870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6400" y="2108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</a:rPr>
              <a:t>Demo: Static </a:t>
            </a:r>
            <a:r>
              <a:rPr lang="en-US" sz="2800" b="1" dirty="0">
                <a:solidFill>
                  <a:srgbClr val="FFFFFF"/>
                </a:solidFill>
              </a:rPr>
              <a:t>with </a:t>
            </a:r>
            <a:r>
              <a:rPr sz="2800" b="1" dirty="0">
                <a:solidFill>
                  <a:srgbClr val="FFFFFF"/>
                </a:solidFill>
              </a:rPr>
              <a:t>Go </a:t>
            </a:r>
            <a:r>
              <a:rPr lang="en-US" sz="2800" b="1" dirty="0">
                <a:solidFill>
                  <a:srgbClr val="FFFFFF"/>
                </a:solidFill>
              </a:rPr>
              <a:t>App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600" b="1" dirty="0">
                <a:solidFill>
                  <a:srgbClr val="F7A800"/>
                </a:solidFill>
              </a:rPr>
              <a:t>06-demo-scratch-go  --  CGO_ENABLED=0, single static binary, FROM scratch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Build and run: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build -f Dockerfile -t 06-demo-scratch-go .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run -d --name 06-demo-scratch-go -p 5006:5000 06-demo-scratch-go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Normal request: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curl "http://localhost:5006/ping?host=8.8.8.8"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{ "error": "fork/exec /bin/sh: no such file or directory" }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Exploit attempt: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curl "http://localhost:5006/ping?host=8.8.8.8%3B+id"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{ "error": "fork/exec /bin/sh: no such file or directory" }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Shell exec: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exec 06-demo-scratch-go /bin/sh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OCI error: /bin/sh: no such file or directory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Image size:</a:t>
            </a:r>
            <a:r>
              <a:rPr lang="en-US" sz="1600" dirty="0">
                <a:solidFill>
                  <a:srgbClr val="D0D8E0"/>
                </a:solidFill>
              </a:rPr>
              <a:t> 6.88 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06400" y="4394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400" y="3632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400" y="2870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6400" y="2108200"/>
            <a:ext cx="8331200" cy="609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</a:rPr>
              <a:t>Demo: Scratch with Python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600" b="1" dirty="0">
                <a:solidFill>
                  <a:srgbClr val="F7A800"/>
                </a:solidFill>
              </a:rPr>
              <a:t>07-demo-scratch-python  --  Python Flask app, Alpine builder, FROM scratch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Build and run: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build -f Dockerfile -t 07-demo-scratch-python ..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run -d --name 07-demo-scratch-python -p 5007:5000 07-demo-scratch-python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Normal request: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curl "http://localhost:5007/ping?host=8.8.8.8"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HTTP 500 -- subprocess(shell=True) needs /bin/sh, which does not exist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Exploit attempt: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curl "http://localhost:5007/ping?host=8.8.8.8%3B+id"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HTTP 500 -- /bin/sh missing, exploit never executes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Shell exec: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exec 07-demo-scratch-python /bin/sh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OCI error: /bin/sh: no such file or directory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Image size:</a:t>
            </a:r>
            <a:r>
              <a:rPr lang="en-US" sz="1600" dirty="0">
                <a:solidFill>
                  <a:srgbClr val="D0D8E0"/>
                </a:solidFill>
              </a:rPr>
              <a:t> 112 MB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Distroless as the Practical Middle 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Scratch is secure but operationally painful.</a:t>
            </a:r>
          </a:p>
          <a:p>
            <a:r>
              <a:rPr sz="1600">
                <a:solidFill>
                  <a:srgbClr val="D0D8E0"/>
                </a:solidFill>
              </a:rPr>
              <a:t>Traditional distros are convenient but bloated.</a:t>
            </a:r>
          </a:p>
          <a:p>
            <a:r>
              <a:rPr sz="1600">
                <a:solidFill>
                  <a:srgbClr val="D0D8E0"/>
                </a:solidFill>
              </a:rPr>
              <a:t>Distroless balances minimalism and usability.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Introducing Chainguard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313658"/>
          </a:xfrm>
        </p:spPr>
        <p:txBody>
          <a:bodyPr>
            <a:normAutofit lnSpcReduction="10000"/>
          </a:bodyPr>
          <a:lstStyle/>
          <a:p>
            <a:r>
              <a:rPr sz="1600" dirty="0" err="1">
                <a:solidFill>
                  <a:srgbClr val="D0D8E0"/>
                </a:solidFill>
              </a:rPr>
              <a:t>Wolfi</a:t>
            </a:r>
            <a:r>
              <a:rPr sz="1600" dirty="0">
                <a:solidFill>
                  <a:srgbClr val="D0D8E0"/>
                </a:solidFill>
              </a:rPr>
              <a:t> foundation</a:t>
            </a:r>
          </a:p>
          <a:p>
            <a:r>
              <a:rPr sz="1600" dirty="0" err="1">
                <a:solidFill>
                  <a:srgbClr val="D0D8E0"/>
                </a:solidFill>
              </a:rPr>
              <a:t>Distroless</a:t>
            </a:r>
            <a:r>
              <a:rPr lang="en-US" sz="1600" dirty="0">
                <a:solidFill>
                  <a:srgbClr val="D0D8E0"/>
                </a:solidFill>
              </a:rPr>
              <a:t> but </a:t>
            </a:r>
            <a:r>
              <a:rPr sz="1600" dirty="0">
                <a:solidFill>
                  <a:srgbClr val="D0D8E0"/>
                </a:solidFill>
              </a:rPr>
              <a:t>friendly runtimes</a:t>
            </a:r>
          </a:p>
          <a:p>
            <a:r>
              <a:rPr sz="1600" dirty="0">
                <a:solidFill>
                  <a:srgbClr val="D0D8E0"/>
                </a:solidFill>
              </a:rPr>
              <a:t>Signed artifacts</a:t>
            </a:r>
          </a:p>
          <a:p>
            <a:r>
              <a:rPr sz="1600" dirty="0">
                <a:solidFill>
                  <a:srgbClr val="D0D8E0"/>
                </a:solidFill>
              </a:rPr>
              <a:t>Continuously rebuilt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C921D3-3779-4CF2-79CE-BF5EA2F11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663" y="3721699"/>
            <a:ext cx="3846079" cy="23136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Continuous Rebuilds and Supply Chain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Chainguard images are rebuilt daily from source.</a:t>
            </a:r>
          </a:p>
          <a:p>
            <a:r>
              <a:rPr sz="1600">
                <a:solidFill>
                  <a:srgbClr val="D0D8E0"/>
                </a:solidFill>
              </a:rPr>
              <a:t>SBOMs and signed provenance improve visibility.</a:t>
            </a:r>
          </a:p>
          <a:p>
            <a:r>
              <a:rPr sz="1600">
                <a:solidFill>
                  <a:srgbClr val="D0D8E0"/>
                </a:solidFill>
              </a:rPr>
              <a:t>Reduce vulnerability drift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FFFFFF"/>
                </a:solidFill>
              </a:rPr>
              <a:t>What Is </a:t>
            </a:r>
            <a:r>
              <a:rPr sz="2800" b="1" dirty="0" err="1">
                <a:solidFill>
                  <a:srgbClr val="FFFFFF"/>
                </a:solidFill>
              </a:rPr>
              <a:t>Wolfi</a:t>
            </a:r>
            <a:r>
              <a:rPr lang="en-US" sz="2800" b="1" dirty="0">
                <a:solidFill>
                  <a:srgbClr val="FFFFFF"/>
                </a:solidFill>
              </a:rPr>
              <a:t> and Why</a:t>
            </a:r>
            <a:r>
              <a:rPr sz="28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1600" dirty="0">
                <a:solidFill>
                  <a:srgbClr val="D0D8E0"/>
                </a:solidFill>
              </a:rPr>
              <a:t>Container-focused </a:t>
            </a:r>
            <a:r>
              <a:rPr sz="1600" dirty="0" err="1">
                <a:solidFill>
                  <a:srgbClr val="D0D8E0"/>
                </a:solidFill>
              </a:rPr>
              <a:t>userspace</a:t>
            </a:r>
            <a:r>
              <a:rPr sz="1600" dirty="0">
                <a:solidFill>
                  <a:srgbClr val="D0D8E0"/>
                </a:solidFill>
              </a:rPr>
              <a:t> created by Chainguard.</a:t>
            </a:r>
          </a:p>
          <a:p>
            <a:r>
              <a:rPr sz="1600" dirty="0">
                <a:solidFill>
                  <a:srgbClr val="D0D8E0"/>
                </a:solidFill>
              </a:rPr>
              <a:t>Not a traditional Linux distribution.</a:t>
            </a:r>
          </a:p>
          <a:p>
            <a:r>
              <a:rPr sz="1600" dirty="0">
                <a:solidFill>
                  <a:srgbClr val="D0D8E0"/>
                </a:solidFill>
              </a:rPr>
              <a:t>Designed for secure cloud-native supply chains.</a:t>
            </a:r>
            <a:endParaRPr lang="en-US" dirty="0"/>
          </a:p>
          <a:p>
            <a:r>
              <a:rPr lang="en-US" sz="1600" dirty="0">
                <a:solidFill>
                  <a:srgbClr val="D0D8E0"/>
                </a:solidFill>
              </a:rPr>
              <a:t>Reduce CVE noise</a:t>
            </a:r>
          </a:p>
          <a:p>
            <a:r>
              <a:rPr lang="en-US" sz="1600" dirty="0">
                <a:solidFill>
                  <a:srgbClr val="D0D8E0"/>
                </a:solidFill>
              </a:rPr>
              <a:t>Enable rapid rebuilds</a:t>
            </a:r>
          </a:p>
          <a:p>
            <a:r>
              <a:rPr lang="en-US" sz="1600" dirty="0">
                <a:solidFill>
                  <a:srgbClr val="D0D8E0"/>
                </a:solidFill>
              </a:rPr>
              <a:t>Granular packaging</a:t>
            </a:r>
          </a:p>
          <a:p>
            <a:r>
              <a:rPr lang="en-US" sz="1600" dirty="0">
                <a:solidFill>
                  <a:srgbClr val="D0D8E0"/>
                </a:solidFill>
              </a:rPr>
              <a:t>Improve provenance and SBOM generation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06400" y="3378200"/>
            <a:ext cx="8331200" cy="355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Chainguard Runtime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600" b="1" dirty="0">
                <a:solidFill>
                  <a:srgbClr val="F7A800"/>
                </a:solidFill>
              </a:rPr>
              <a:t>08-demo-chainguard-python  (cgr.dev/chainguard/python:latest)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No shell -- subprocess(shell=True) fails with HTTP 500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09-demo-chainguard-java  (cgr.dev/chainguard/jre:latest)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No shell -- Runtime.exec("/bin/sh") returns error in JSON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10-demo-chainguard-node  (cgr.dev/chainguard/node:latest)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/bin/sh IS present (busybox -- npm requires it) -- exploit WORKS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Chainguard does not mean no-shell. Runtime requirements drive content.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11-demo-chainguard-go  (cgr.dev/chainguard/static:latest)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No shell -- exec.Command("/bin/sh") fails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D0D8E0"/>
                </a:solidFill>
              </a:rPr>
              <a:t>All images run as uid=65532 (nonroot)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FFFFFF"/>
                </a:solidFill>
              </a:rPr>
              <a:t>FIPS Compliance and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>
                <a:solidFill>
                  <a:srgbClr val="D0D8E0"/>
                </a:solidFill>
              </a:rPr>
              <a:t>FIPS 140-2 / 140-3 cryptographic module validation</a:t>
            </a:r>
          </a:p>
          <a:p>
            <a:r>
              <a:rPr sz="1600" dirty="0">
                <a:solidFill>
                  <a:srgbClr val="D0D8E0"/>
                </a:solidFill>
              </a:rPr>
              <a:t>Important for regulated environments</a:t>
            </a:r>
          </a:p>
          <a:p>
            <a:r>
              <a:rPr sz="1600" dirty="0">
                <a:solidFill>
                  <a:srgbClr val="D0D8E0"/>
                </a:solidFill>
              </a:rPr>
              <a:t>Containers complicate crypto validation</a:t>
            </a:r>
            <a:endParaRPr lang="en-US" dirty="0"/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Custom OpenSSL builds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Runtime validation complexity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Operational overhead and patching pain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Chainguard FIPS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600" b="1" dirty="0">
                <a:solidFill>
                  <a:srgbClr val="F7A800"/>
                </a:solidFill>
              </a:rPr>
              <a:t>12-demo-chainguard-fips-python  (python-fips-appd-3.13)</a:t>
            </a:r>
          </a:p>
          <a:p>
            <a:r>
              <a:rPr lang="en-US" sz="1600" dirty="0">
                <a:solidFill>
                  <a:srgbClr val="D0D8E0"/>
                </a:solidFill>
              </a:rPr>
              <a:t>  No shell -- subprocess(shell=True) fails with HTTP 500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13-demo-chainguard-fips-java  (jre-fips-appd-openjdk-17, BouncyCastle FIPS)</a:t>
            </a:r>
          </a:p>
          <a:p>
            <a:r>
              <a:rPr lang="en-US" sz="1600" dirty="0">
                <a:solidFill>
                  <a:srgbClr val="D0D8E0"/>
                </a:solidFill>
              </a:rPr>
              <a:t>  No shell -- Runtime.exec("/bin/sh") returns error in JSON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14-demo-chainguard-fips-node  (node-fips-appd-24-slim)</a:t>
            </a:r>
          </a:p>
          <a:p>
            <a:r>
              <a:rPr lang="en-US" sz="1600" dirty="0">
                <a:solidFill>
                  <a:srgbClr val="D0D8E0"/>
                </a:solidFill>
              </a:rPr>
              <a:t>  No shell -- exec() returns ENOENT  (contrast: non-FIPS node has busybox)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15-demo-chainguard-fips-go  (glibc-openssl-fips, systemcrypto + requirefips)</a:t>
            </a:r>
          </a:p>
          <a:p>
            <a:r>
              <a:rPr lang="en-US" sz="1600" dirty="0">
                <a:solidFill>
                  <a:srgbClr val="D0D8E0"/>
                </a:solidFill>
              </a:rPr>
              <a:t>  No shell -- exec.Command("/bin/sh") returns ENOENT</a:t>
            </a:r>
          </a:p>
          <a:p>
            <a:endParaRPr lang="en-US" dirty="0"/>
          </a:p>
          <a:p>
            <a:r>
              <a:rPr lang="en-US" sz="1600" dirty="0">
                <a:solidFill>
                  <a:srgbClr val="D0D8E0"/>
                </a:solidFill>
              </a:rPr>
              <a:t>All images run as uid=65532 (nonroot)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FIPS Caveats and Compliance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FIPS-capable images do not automatically make deployments compliant.</a:t>
            </a:r>
          </a:p>
          <a:p>
            <a:r>
              <a:rPr sz="1600">
                <a:solidFill>
                  <a:srgbClr val="D0D8E0"/>
                </a:solidFill>
              </a:rPr>
              <a:t>Runtime controls and governance still matter.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Demo: Chainguard Package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9656" y="2441448"/>
            <a:ext cx="4169663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1">
                <a:solidFill>
                  <a:srgbClr val="607890"/>
                </a:solidFill>
              </a:rPr>
              <a:t>docker export $(docker create &lt;image&gt;) | tar -xO usr/lib/apk/db/installed | grep "^P:" | wc -l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97505"/>
              </p:ext>
            </p:extLst>
          </p:nvPr>
        </p:nvGraphicFramePr>
        <p:xfrm>
          <a:off x="274320" y="1188804"/>
          <a:ext cx="859536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Demo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 Image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Packages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01-demo-debian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debian:12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02-demo-alpine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alpine:3.20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03-demo-ubi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ubi9/ubi:latest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04-demo-debian-slim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debian:12-slim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05-demo-ubi-minimal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ubi9/ubi-minimal:latest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06-demo-scratch-go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07-demo-scratch-python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scratch (Alpine builder)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08-demo-chainguard-python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cgr.dev/chainguard/python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09-demo-chainguard-java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cgr.dev/chainguard/jre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10-demo-chainguard-node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cgr.dev/chainguard/node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11-demo-chainguard-go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cgr.dev/chainguard/static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12-demo-chainguard-fips-python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chainguard python-fips-3.13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13-demo-chainguard-fips-java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chainguard jre-fips-openjdk-17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14-demo-chainguard-fips-node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chainguard node-fips-24-slim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15-demo-chainguard-fips-go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chainguard glibc-openssl-fips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rPr dirty="0"/>
                        <a:t>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06400" y="3378201"/>
            <a:ext cx="8331200" cy="863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6400" y="2108201"/>
            <a:ext cx="8331200" cy="863600"/>
          </a:xfrm>
          <a:prstGeom prst="rect">
            <a:avLst/>
          </a:prstGeom>
          <a:solidFill>
            <a:srgbClr val="0A1420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 dirty="0">
                <a:solidFill>
                  <a:srgbClr val="FFFFFF"/>
                </a:solidFill>
              </a:rPr>
              <a:t>Vulnerability Scanner Comparison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64372"/>
          </a:xfrm>
        </p:spPr>
        <p:txBody>
          <a:bodyPr>
            <a:normAutofit fontScale="77500" lnSpcReduction="20000"/>
          </a:bodyPr>
          <a:lstStyle/>
          <a:p>
            <a:r>
              <a:rPr lang="en-US" sz="1600" dirty="0">
                <a:solidFill>
                  <a:srgbClr val="D0D8E0"/>
                </a:solidFill>
              </a:rPr>
              <a:t>Ran both scanners against all 15 demo images. Results on following slides.</a:t>
            </a:r>
          </a:p>
          <a:p>
            <a:r>
              <a:rPr lang="en-US" sz="1600" b="1" dirty="0">
                <a:solidFill>
                  <a:srgbClr val="F7A800"/>
                </a:solidFill>
              </a:rPr>
              <a:t>Trivy:</a:t>
            </a:r>
          </a:p>
          <a:p>
            <a:pPr lvl="1"/>
            <a:r>
              <a:rPr lang="en-US" sz="1300" b="0" dirty="0" err="1">
                <a:solidFill>
                  <a:srgbClr val="A8D8FF"/>
                </a:solidFill>
                <a:latin typeface="Courier New"/>
              </a:rPr>
              <a:t>trivy</a:t>
            </a:r>
            <a:r>
              <a:rPr lang="en-US" sz="1300" b="0" dirty="0">
                <a:solidFill>
                  <a:srgbClr val="A8D8FF"/>
                </a:solidFill>
                <a:latin typeface="Courier New"/>
              </a:rPr>
              <a:t> image 01-demo-debian</a:t>
            </a:r>
          </a:p>
          <a:p>
            <a:pPr lvl="1"/>
            <a:r>
              <a:rPr lang="en-US" sz="1300" b="0" dirty="0" err="1">
                <a:solidFill>
                  <a:srgbClr val="A8D8FF"/>
                </a:solidFill>
                <a:latin typeface="Courier New"/>
              </a:rPr>
              <a:t>trivy</a:t>
            </a:r>
            <a:r>
              <a:rPr lang="en-US" sz="1300" b="0" dirty="0">
                <a:solidFill>
                  <a:srgbClr val="A8D8FF"/>
                </a:solidFill>
                <a:latin typeface="Courier New"/>
              </a:rPr>
              <a:t> image --severity HIGH,CRITICAL 01-demo-debian</a:t>
            </a:r>
          </a:p>
          <a:p>
            <a:pPr lvl="1"/>
            <a:r>
              <a:rPr lang="en-US" sz="1300" b="0" dirty="0" err="1">
                <a:solidFill>
                  <a:srgbClr val="A8D8FF"/>
                </a:solidFill>
                <a:latin typeface="Courier New"/>
              </a:rPr>
              <a:t>trivy</a:t>
            </a:r>
            <a:r>
              <a:rPr lang="en-US" sz="1300" b="0" dirty="0">
                <a:solidFill>
                  <a:srgbClr val="A8D8FF"/>
                </a:solidFill>
                <a:latin typeface="Courier New"/>
              </a:rPr>
              <a:t> image --format table 01-demo-debian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F7A800"/>
                </a:solidFill>
              </a:rPr>
              <a:t>Docker Scout: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scout cves local://01-demo-debian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scout cves --only-severity critical,high local://01-demo-debian</a:t>
            </a:r>
          </a:p>
          <a:p>
            <a:pPr lvl="1"/>
            <a:r>
              <a:rPr lang="en-US" sz="1300" b="0" dirty="0">
                <a:solidFill>
                  <a:srgbClr val="A8D8FF"/>
                </a:solidFill>
                <a:latin typeface="Courier New"/>
              </a:rPr>
              <a:t>docker scout recommendations local://01-demo-debian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4988"/>
          </a:xfrm>
        </p:spPr>
        <p:txBody>
          <a:bodyPr>
            <a:normAutofit/>
          </a:bodyPr>
          <a:lstStyle/>
          <a:p>
            <a:r>
              <a:rPr sz="2800" b="1" dirty="0" err="1">
                <a:solidFill>
                  <a:srgbClr val="FFFFFF"/>
                </a:solidFill>
              </a:rPr>
              <a:t>Trivy</a:t>
            </a:r>
            <a:r>
              <a:rPr sz="2800" b="1" dirty="0">
                <a:solidFill>
                  <a:srgbClr val="FFFFFF"/>
                </a:solidFill>
              </a:rPr>
              <a:t> Vulnerability Scan Results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738883"/>
              </p:ext>
            </p:extLst>
          </p:nvPr>
        </p:nvGraphicFramePr>
        <p:xfrm>
          <a:off x="274320" y="1199626"/>
          <a:ext cx="859536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Demo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01-demo-debian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992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774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1991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02-demo-alpine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03-demo-ubi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228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04-demo-debian-slim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992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774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1991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05-demo-ubi-minimal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189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06-demo-scratch-go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07-demo-scratch-python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08-demo-chainguard-python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09-demo-chainguard-java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10-demo-chainguard-node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11-demo-chainguard-go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12-demo-chainguard-fips-python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13-demo-chainguard-fips-java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14-demo-chainguard-fips-node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15-demo-chainguard-fips-go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3446FA-34A4-4D75-4B29-3F1C2A33F783}"/>
              </a:ext>
            </a:extLst>
          </p:cNvPr>
          <p:cNvSpPr txBox="1"/>
          <p:nvPr/>
        </p:nvSpPr>
        <p:spPr>
          <a:xfrm>
            <a:off x="5419101" y="5902746"/>
            <a:ext cx="319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rgbClr val="607890"/>
                </a:solidFill>
              </a:rPr>
              <a:t>Scans were done on 2026-06-04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84128" cy="1008878"/>
          </a:xfrm>
        </p:spPr>
        <p:txBody>
          <a:bodyPr>
            <a:normAutofit fontScale="90000"/>
          </a:bodyPr>
          <a:lstStyle/>
          <a:p>
            <a:r>
              <a:rPr sz="2800" b="1" dirty="0">
                <a:solidFill>
                  <a:srgbClr val="FFFFFF"/>
                </a:solidFill>
              </a:rPr>
              <a:t>Docker Scout Vulnerability Scan</a:t>
            </a:r>
            <a:r>
              <a:rPr lang="en-US" sz="2800" b="1" dirty="0">
                <a:solidFill>
                  <a:srgbClr val="FFFFFF"/>
                </a:solidFill>
              </a:rPr>
              <a:t> </a:t>
            </a:r>
            <a:r>
              <a:rPr sz="2800" b="1" dirty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6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027996"/>
              </p:ext>
            </p:extLst>
          </p:nvPr>
        </p:nvGraphicFramePr>
        <p:xfrm>
          <a:off x="301584" y="1158134"/>
          <a:ext cx="859536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Demo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CRIT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01-demo-debian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02-demo-alpine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03-demo-ubi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04-demo-debian-slim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05-demo-ubi-minimal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06-demo-scratch-go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07-demo-scratch-python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08-demo-chainguard-python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09-demo-chainguard-java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10-demo-chainguard-node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11-demo-chainguard-go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12-demo-chainguard-fips-python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13-demo-chainguard-fips-java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14-demo-chainguard-fips-node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15-demo-chainguard-fips-go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048EF2-E790-4202-7F18-1CE9A56E5731}"/>
              </a:ext>
            </a:extLst>
          </p:cNvPr>
          <p:cNvSpPr txBox="1"/>
          <p:nvPr/>
        </p:nvSpPr>
        <p:spPr>
          <a:xfrm>
            <a:off x="4693549" y="5848588"/>
            <a:ext cx="319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rgbClr val="607890"/>
                </a:solidFill>
              </a:rPr>
              <a:t>Scans were done on 2026-06-04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Chainguard Images: Docker Scout CVE Detail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00891"/>
              </p:ext>
            </p:extLst>
          </p:nvPr>
        </p:nvGraphicFramePr>
        <p:xfrm>
          <a:off x="274320" y="1723099"/>
          <a:ext cx="8595360" cy="3822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600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Demo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Published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Fixed In</a:t>
                      </a:r>
                    </a:p>
                  </a:txBody>
                  <a:tcPr>
                    <a:solidFill>
                      <a:srgbClr val="2E4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 dirty="0"/>
                        <a:t>08 + 12  (Python)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 dirty="0"/>
                        <a:t>CVE-2026-27205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flask 3.1.1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LOW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2026-02-21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3.1.3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13  (FIPS Java)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CVE-2025-12194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bc-fips 2.1.1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MEDIUM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2025-10-24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2.1.2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13  (FIPS Java)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CVE-2026-8149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bc-fips 2.1.1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MEDIUM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2026-05-08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721C24"/>
                          </a:solidFill>
                        </a:defRPr>
                      </a:pPr>
                      <a:r>
                        <a:rPr sz="1400"/>
                        <a:t>not fixed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15  (FIPS Go)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CVE-2026-42504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go stdlib 1.26.3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HIGH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2026-06-02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go 1.26.4</a:t>
                      </a:r>
                    </a:p>
                  </a:txBody>
                  <a:tcPr>
                    <a:solidFill>
                      <a:srgbClr val="F5C6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15  (FIPS Go)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CVE-2026-42507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go stdlib 1.26.3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MEDIUM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2026-06-02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go 1.26.4</a:t>
                      </a:r>
                    </a:p>
                  </a:txBody>
                  <a:tcPr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003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15  (FIPS Go)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CVE-2026-27145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go stdlib 1.26.3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400"/>
                        <a:t>UNSPEC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/>
                        <a:t>2026-06-02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rPr sz="1400" dirty="0"/>
                        <a:t>go 1.26.4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6CC1E-ACC3-4B2A-B004-4437D899453A}"/>
              </a:ext>
            </a:extLst>
          </p:cNvPr>
          <p:cNvSpPr txBox="1"/>
          <p:nvPr/>
        </p:nvSpPr>
        <p:spPr>
          <a:xfrm>
            <a:off x="3074474" y="5696854"/>
            <a:ext cx="3192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solidFill>
                  <a:srgbClr val="607890"/>
                </a:solidFill>
              </a:rPr>
              <a:t>Scans were done on 2026-06-04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Distroless Is Not a Silver Bullet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solidFill>
                  <a:srgbClr val="D0D8E0"/>
                </a:solidFill>
              </a:rPr>
              <a:t>Security: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Does not prevent compromise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Does not eliminate vulnerabilities</a:t>
            </a:r>
          </a:p>
          <a:p>
            <a:pPr lvl="1"/>
            <a:r>
              <a:rPr sz="1600" dirty="0">
                <a:solidFill>
                  <a:srgbClr val="D0D8E0"/>
                </a:solidFill>
              </a:rPr>
              <a:t>Should be part of defense in depth</a:t>
            </a:r>
            <a:endParaRPr lang="en-US" dirty="0"/>
          </a:p>
          <a:p>
            <a:r>
              <a:rPr lang="en-US" sz="1600" dirty="0">
                <a:solidFill>
                  <a:srgbClr val="D0D8E0"/>
                </a:solidFill>
              </a:rPr>
              <a:t>Operational Tradeoffs: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Harder debugging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Different troubleshooting workflows</a:t>
            </a:r>
          </a:p>
          <a:p>
            <a:pPr lvl="1"/>
            <a:r>
              <a:rPr lang="en-US" sz="1600" dirty="0">
                <a:solidFill>
                  <a:srgbClr val="D0D8E0"/>
                </a:solidFill>
              </a:rPr>
              <a:t>Compatibility edge cases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Debugging Distroless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kubectl debug</a:t>
            </a:r>
          </a:p>
          <a:p>
            <a:r>
              <a:rPr sz="1600">
                <a:solidFill>
                  <a:srgbClr val="D0D8E0"/>
                </a:solidFill>
              </a:rPr>
              <a:t>Ephemeral containers</a:t>
            </a:r>
          </a:p>
          <a:p>
            <a:r>
              <a:rPr sz="1600">
                <a:solidFill>
                  <a:srgbClr val="D0D8E0"/>
                </a:solidFill>
              </a:rPr>
              <a:t>Separate debug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When You Actually Need a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Valid operational cases exist.</a:t>
            </a:r>
          </a:p>
          <a:p>
            <a:r>
              <a:rPr sz="1600">
                <a:solidFill>
                  <a:srgbClr val="D0D8E0"/>
                </a:solidFill>
              </a:rPr>
              <a:t>Use dedicated debug images rather than bloating production runtimes.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Container Hardening Beyond Distroless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Run as non-root</a:t>
            </a:r>
          </a:p>
          <a:p>
            <a:r>
              <a:rPr sz="1600">
                <a:solidFill>
                  <a:srgbClr val="D0D8E0"/>
                </a:solidFill>
              </a:rPr>
              <a:t>Read-only filesystems</a:t>
            </a:r>
          </a:p>
          <a:p>
            <a:r>
              <a:rPr sz="1600">
                <a:solidFill>
                  <a:srgbClr val="D0D8E0"/>
                </a:solidFill>
              </a:rPr>
              <a:t>Drop capabilities</a:t>
            </a:r>
          </a:p>
          <a:p>
            <a:r>
              <a:rPr sz="1600">
                <a:solidFill>
                  <a:srgbClr val="D0D8E0"/>
                </a:solidFill>
              </a:rPr>
              <a:t>Use seccomp/AppArmor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2800" b="1">
                <a:solidFill>
                  <a:srgbClr val="FFFFFF"/>
                </a:solidFill>
              </a:rPr>
              <a:t>Recommended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Multi-stage builds</a:t>
            </a:r>
          </a:p>
          <a:p>
            <a:r>
              <a:rPr sz="1600">
                <a:solidFill>
                  <a:srgbClr val="D0D8E0"/>
                </a:solidFill>
              </a:rPr>
              <a:t>Minimal runtime images</a:t>
            </a:r>
          </a:p>
          <a:p>
            <a:r>
              <a:rPr sz="1600">
                <a:solidFill>
                  <a:srgbClr val="D0D8E0"/>
                </a:solidFill>
              </a:rPr>
              <a:t>Signed images</a:t>
            </a:r>
          </a:p>
          <a:p>
            <a:r>
              <a:rPr sz="1600">
                <a:solidFill>
                  <a:srgbClr val="D0D8E0"/>
                </a:solidFill>
              </a:rPr>
              <a:t>CI/CD scanning and SBOM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Demo Repository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Dockerfiles</a:t>
            </a:r>
          </a:p>
          <a:p>
            <a:r>
              <a:rPr sz="1600">
                <a:solidFill>
                  <a:srgbClr val="D0D8E0"/>
                </a:solidFill>
              </a:rPr>
              <a:t>Scanning scripts</a:t>
            </a:r>
          </a:p>
          <a:p>
            <a:r>
              <a:rPr sz="1600">
                <a:solidFill>
                  <a:srgbClr val="D0D8E0"/>
                </a:solidFill>
              </a:rPr>
              <a:t>Runtime examples</a:t>
            </a:r>
          </a:p>
          <a:p>
            <a:r>
              <a:rPr sz="1600">
                <a:solidFill>
                  <a:srgbClr val="D0D8E0"/>
                </a:solidFill>
              </a:rPr>
              <a:t>Speaker notes and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Distroless reduces runtime attack surface.</a:t>
            </a:r>
          </a:p>
          <a:p>
            <a:r>
              <a:rPr sz="1600">
                <a:solidFill>
                  <a:srgbClr val="D0D8E0"/>
                </a:solidFill>
              </a:rPr>
              <a:t>Wolfi modernizes container packaging.</a:t>
            </a:r>
          </a:p>
          <a:p>
            <a:r>
              <a:rPr sz="1600">
                <a:solidFill>
                  <a:srgbClr val="D0D8E0"/>
                </a:solidFill>
              </a:rPr>
              <a:t>Chainguard improves supply chain visibility and operational security.</a:t>
            </a:r>
          </a:p>
          <a:p>
            <a:r>
              <a:rPr sz="1600">
                <a:solidFill>
                  <a:srgbClr val="D0D8E0"/>
                </a:solidFill>
              </a:rPr>
              <a:t>Security is risk reduction, not magic.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D0D8E0"/>
                </a:solidFill>
              </a:rPr>
              <a:t>GitHub repository and examples available after the talk.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4">
                <a:solidFill>
                  <a:srgbClr val="646464"/>
                </a:solidFill>
              </a:defRPr>
            </a:pPr>
            <a:r>
              <a:rPr sz="1000" i="1">
                <a:solidFill>
                  <a:srgbClr val="607890"/>
                </a:solidFill>
              </a:rPr>
              <a:t>Additional implementation details, Dockerfiles, scripts, and speaker notes will be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8321040" cy="40000"/>
          </a:xfrm>
          <a:prstGeom prst="rect">
            <a:avLst/>
          </a:prstGeom>
          <a:solidFill>
            <a:srgbClr val="00BCEB"/>
          </a:solidFill>
          <a:ln>
            <a:solidFill>
              <a:srgbClr val="1E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3257</Words>
  <Application>Microsoft Macintosh PowerPoint</Application>
  <PresentationFormat>On-screen Show (4:3)</PresentationFormat>
  <Paragraphs>674</Paragraphs>
  <Slides>33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Calibri</vt:lpstr>
      <vt:lpstr>Courier New</vt:lpstr>
      <vt:lpstr>Office Theme</vt:lpstr>
      <vt:lpstr>Distroless Containers: Less OS, Less Risk</vt:lpstr>
      <vt:lpstr>Who Am I?</vt:lpstr>
      <vt:lpstr>What Attackers Want Inside Containers</vt:lpstr>
      <vt:lpstr>Demo: Command Injection</vt:lpstr>
      <vt:lpstr>Why Are We Shipping Entire Operating Systems?</vt:lpstr>
      <vt:lpstr>Traditional Base Image Comparison</vt:lpstr>
      <vt:lpstr>Demo: Enumerating Packages</vt:lpstr>
      <vt:lpstr>Why Existing Linux Distributions Struggle in Containers</vt:lpstr>
      <vt:lpstr>Distroless Containers Explained</vt:lpstr>
      <vt:lpstr>Scratch Images and Static Binaries</vt:lpstr>
      <vt:lpstr>Demo: Static with Go App</vt:lpstr>
      <vt:lpstr>Demo: Scratch with Python App</vt:lpstr>
      <vt:lpstr>Distroless as the Practical Middle Ground</vt:lpstr>
      <vt:lpstr>Introducing Chainguard Images</vt:lpstr>
      <vt:lpstr>Continuous Rebuilds and Supply Chain Visibility</vt:lpstr>
      <vt:lpstr>What Is Wolfi and Why?</vt:lpstr>
      <vt:lpstr>Chainguard Runtime Examples</vt:lpstr>
      <vt:lpstr>FIPS Compliance and Containers</vt:lpstr>
      <vt:lpstr>Chainguard FIPS Images</vt:lpstr>
      <vt:lpstr>FIPS Caveats and Compliance Reality</vt:lpstr>
      <vt:lpstr>Demo: Chainguard Package Counts</vt:lpstr>
      <vt:lpstr>Vulnerability Scanner Comparison Demo</vt:lpstr>
      <vt:lpstr>Trivy Vulnerability Scan Results</vt:lpstr>
      <vt:lpstr>Docker Scout Vulnerability Scan Results</vt:lpstr>
      <vt:lpstr>Chainguard Images: Docker Scout CVE Detail</vt:lpstr>
      <vt:lpstr>Distroless Is Not a Silver Bullet</vt:lpstr>
      <vt:lpstr>Debugging Distroless Containers</vt:lpstr>
      <vt:lpstr>When You Actually Need a Shell</vt:lpstr>
      <vt:lpstr>Container Hardening Beyond Distroless</vt:lpstr>
      <vt:lpstr>Recommended Architecture Patterns</vt:lpstr>
      <vt:lpstr>Demo Repository Walkthrough</vt:lpstr>
      <vt:lpstr>Key Takeaways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Mello Kirouac (bkirouac)</cp:lastModifiedBy>
  <cp:revision>37</cp:revision>
  <dcterms:created xsi:type="dcterms:W3CDTF">2013-01-27T09:14:16Z</dcterms:created>
  <dcterms:modified xsi:type="dcterms:W3CDTF">2026-06-17T18:41:20Z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Cisco Confidential</vt:lpwstr>
  </property>
</Properties>
</file>